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show="0"/>
    <p:sldId id="265" r:id="rId11" show="0"/>
  </p:sldIdLst>
  <p:notesMasterIdLst>
    <p:notesMasterId r:id="rId12"/>
  </p:notesMasterIdLst>
  <p:sldSz cx="12191695" cy="7543611"/>
  <p:notesSz cx="7543611"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9.xml"/><Relationship Id="rId3" Type="http://schemas.openxmlformats.org/officeDocument/2006/relationships/hyperlink" Target="https://www.linkedin.com/posts/prandelligiacomo_94-billion-thats-what-the-top-10-fpso-activity-7482020247210815488-DdkV" TargetMode="External"/><Relationship Id="rId5" Type="http://schemas.openxmlformats.org/officeDocument/2006/relationships/hyperlink" Target="https://www.linkedin.com/posts/prandelligiacomo_94-billion-thats-what-the-top-10-fpso-activity-7482020247210815488-DdkV" TargetMode="External"/><Relationship Id="rId1" Type="http://schemas.openxmlformats.org/officeDocument/2006/relationships/image" Target="../media/image-2-1.jpe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9-1.jpe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C2B"/>
        </a:solidFill>
      </p:bgPr>
    </p:bg>
    <p:spTree>
      <p:nvGrpSpPr>
        <p:cNvPr id="1" name=""/>
        <p:cNvGrpSpPr/>
        <p:nvPr/>
      </p:nvGrpSpPr>
      <p:grpSpPr>
        <a:xfrm>
          <a:off x="0" y="0"/>
          <a:ext cx="0" cy="0"/>
          <a:chOff x="0" y="0"/>
          <a:chExt cx="0" cy="0"/>
        </a:xfrm>
      </p:grpSpPr>
      <p:sp>
        <p:nvSpPr>
          <p:cNvPr id="2" name="Text 0"/>
          <p:cNvSpPr/>
          <p:nvPr/>
        </p:nvSpPr>
        <p:spPr>
          <a:xfrm>
            <a:off x="685800" y="2081757"/>
            <a:ext cx="5314306" cy="172297"/>
          </a:xfrm>
          <a:prstGeom prst="rect">
            <a:avLst/>
          </a:prstGeom>
          <a:noFill/>
          <a:ln/>
        </p:spPr>
        <p:txBody>
          <a:bodyPr wrap="square" lIns="508" tIns="508" rIns="508" bIns="508" rtlCol="0" anchor="ctr">
            <a:normAutofit/>
          </a:bodyPr>
          <a:lstStyle/>
          <a:p>
            <a:pPr indent="0" marL="0">
              <a:buNone/>
            </a:pPr>
            <a:r>
              <a:rPr lang="en-US" sz="3000" b="1" dirty="0">
                <a:solidFill>
                  <a:srgbClr val="26C6A3"/>
                </a:solidFill>
                <a:latin typeface="Aptos" pitchFamily="34" charset="0"/>
                <a:ea typeface="Aptos" pitchFamily="34" charset="-122"/>
                <a:cs typeface="Aptos" pitchFamily="34" charset="-120"/>
              </a:rPr>
              <a:t>From Industry Signal to Strategic Analysis</a:t>
            </a:r>
            <a:endParaRPr lang="en-US" sz="3000" dirty="0"/>
          </a:p>
        </p:txBody>
      </p:sp>
      <p:sp>
        <p:nvSpPr>
          <p:cNvPr id="3" name="Text 1"/>
          <p:cNvSpPr/>
          <p:nvPr/>
        </p:nvSpPr>
        <p:spPr>
          <a:xfrm>
            <a:off x="685800" y="2287048"/>
            <a:ext cx="5314306" cy="430743"/>
          </a:xfrm>
          <a:prstGeom prst="rect">
            <a:avLst/>
          </a:prstGeom>
          <a:noFill/>
          <a:ln/>
        </p:spPr>
        <p:txBody>
          <a:bodyPr wrap="square" lIns="508" tIns="508" rIns="508" bIns="508" rtlCol="0" anchor="ctr">
            <a:normAutofit/>
          </a:bodyPr>
          <a:lstStyle/>
          <a:p>
            <a:pPr indent="0" marL="0">
              <a:buNone/>
            </a:pPr>
            <a:r>
              <a:rPr lang="en-US" sz="1100" dirty="0">
                <a:solidFill>
                  <a:srgbClr val="9EB6BC"/>
                </a:solidFill>
                <a:latin typeface="Aptos" pitchFamily="34" charset="0"/>
                <a:ea typeface="Aptos" pitchFamily="34" charset="-122"/>
                <a:cs typeface="Aptos" pitchFamily="34" charset="-120"/>
              </a:rPr>
              <a:t>&lt;p class="lead"&gt;A LinkedIn post became a professional industry analysis in under an hour.&lt;/p&gt;
</a:t>
            </a:r>
            <a:endParaRPr lang="en-US" sz="1100" dirty="0"/>
          </a:p>
        </p:txBody>
      </p:sp>
      <p:sp>
        <p:nvSpPr>
          <p:cNvPr id="4" name="Text 2"/>
          <p:cNvSpPr/>
          <p:nvPr/>
        </p:nvSpPr>
        <p:spPr>
          <a:xfrm>
            <a:off x="685800" y="2750783"/>
            <a:ext cx="5314306" cy="164592"/>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A simple ranking of the largest FPSO projects became a structured examination of:</a:t>
            </a:r>
            <a:endParaRPr lang="en-US" sz="1500" dirty="0"/>
          </a:p>
        </p:txBody>
      </p:sp>
      <p:sp>
        <p:nvSpPr>
          <p:cNvPr id="5" name="Text 3"/>
          <p:cNvSpPr/>
          <p:nvPr/>
        </p:nvSpPr>
        <p:spPr>
          <a:xfrm>
            <a:off x="685800" y="2948368"/>
            <a:ext cx="5314306" cy="804053"/>
          </a:xfrm>
          <a:prstGeom prst="rect">
            <a:avLst/>
          </a:prstGeom>
          <a:noFill/>
          <a:ln/>
        </p:spPr>
        <p:txBody>
          <a:bodyPr wrap="square" lIns="508" tIns="508" rIns="508" bIns="508" rtlCol="0" anchor="ctr">
            <a:normAutofit/>
          </a:bodyPr>
          <a:lstStyle/>
          <a:p>
            <a:pPr marL="203200" indent="-203200">
              <a:buSzPct val="100000"/>
              <a:buChar char="•"/>
            </a:pPr>
            <a:r>
              <a:rPr lang="en-US" sz="1500" dirty="0">
                <a:solidFill>
                  <a:srgbClr val="EDF7F7"/>
                </a:solidFill>
                <a:latin typeface="Aptos" pitchFamily="34" charset="0"/>
                <a:ea typeface="Aptos" pitchFamily="34" charset="-122"/>
                <a:cs typeface="Aptos" pitchFamily="34" charset="-120"/>
              </a:rPr>
              <a:t>project scope</a:t>
            </a:r>
            <a:endParaRPr lang="en-US" sz="1500" dirty="0"/>
          </a:p>
          <a:p>
            <a:pPr marL="203200" indent="-203200">
              <a:buSzPct val="100000"/>
              <a:buChar char="•"/>
            </a:pPr>
            <a:r>
              <a:rPr lang="en-US" sz="1500" dirty="0">
                <a:solidFill>
                  <a:srgbClr val="EDF7F7"/>
                </a:solidFill>
                <a:latin typeface="Aptos" pitchFamily="34" charset="0"/>
                <a:ea typeface="Aptos" pitchFamily="34" charset="-122"/>
                <a:cs typeface="Aptos" pitchFamily="34" charset="-120"/>
              </a:rPr>
              <a:t>CAPEX comparability</a:t>
            </a:r>
            <a:endParaRPr lang="en-US" sz="1500" dirty="0"/>
          </a:p>
          <a:p>
            <a:pPr marL="203200" indent="-203200">
              <a:buSzPct val="100000"/>
              <a:buChar char="•"/>
            </a:pPr>
            <a:r>
              <a:rPr lang="en-US" sz="1500" dirty="0">
                <a:solidFill>
                  <a:srgbClr val="EDF7F7"/>
                </a:solidFill>
                <a:latin typeface="Aptos" pitchFamily="34" charset="0"/>
                <a:ea typeface="Aptos" pitchFamily="34" charset="-122"/>
                <a:cs typeface="Aptos" pitchFamily="34" charset="-120"/>
              </a:rPr>
              <a:t>development status</a:t>
            </a:r>
            <a:endParaRPr lang="en-US" sz="1500" dirty="0"/>
          </a:p>
          <a:p>
            <a:pPr marL="203200" indent="-203200">
              <a:buSzPct val="100000"/>
              <a:buChar char="•"/>
            </a:pPr>
            <a:r>
              <a:rPr lang="en-US" sz="1500" dirty="0">
                <a:solidFill>
                  <a:srgbClr val="EDF7F7"/>
                </a:solidFill>
                <a:latin typeface="Aptos" pitchFamily="34" charset="0"/>
                <a:ea typeface="Aptos" pitchFamily="34" charset="-122"/>
                <a:cs typeface="Aptos" pitchFamily="34" charset="-120"/>
              </a:rPr>
              <a:t>omitted projects</a:t>
            </a:r>
            <a:endParaRPr lang="en-US" sz="1500" dirty="0"/>
          </a:p>
          <a:p>
            <a:pPr marL="203200" indent="-203200">
              <a:buSzPct val="100000"/>
              <a:buChar char="•"/>
            </a:pPr>
            <a:r>
              <a:rPr lang="en-US" sz="1500" dirty="0">
                <a:solidFill>
                  <a:srgbClr val="EDF7F7"/>
                </a:solidFill>
                <a:latin typeface="Aptos" pitchFamily="34" charset="0"/>
                <a:ea typeface="Aptos" pitchFamily="34" charset="-122"/>
                <a:cs typeface="Aptos" pitchFamily="34" charset="-120"/>
              </a:rPr>
              <a:t>ownership models</a:t>
            </a:r>
            <a:endParaRPr lang="en-US" sz="1500" dirty="0"/>
          </a:p>
          <a:p>
            <a:pPr marL="203200" indent="-203200">
              <a:buSzPct val="100000"/>
              <a:buChar char="•"/>
            </a:pPr>
            <a:r>
              <a:rPr lang="en-US" sz="1500" dirty="0">
                <a:solidFill>
                  <a:srgbClr val="EDF7F7"/>
                </a:solidFill>
                <a:latin typeface="Aptos" pitchFamily="34" charset="0"/>
                <a:ea typeface="Aptos" pitchFamily="34" charset="-122"/>
                <a:cs typeface="Aptos" pitchFamily="34" charset="-120"/>
              </a:rPr>
              <a:t>phased versus integrated development</a:t>
            </a:r>
            <a:endParaRPr lang="en-US" sz="1500" dirty="0"/>
          </a:p>
          <a:p>
            <a:pPr marL="203200" indent="-203200">
              <a:buSzPct val="100000"/>
              <a:buChar char="•"/>
            </a:pPr>
            <a:r>
              <a:rPr lang="en-US" sz="1500" dirty="0">
                <a:solidFill>
                  <a:srgbClr val="EDF7F7"/>
                </a:solidFill>
                <a:latin typeface="Aptos" pitchFamily="34" charset="0"/>
                <a:ea typeface="Aptos" pitchFamily="34" charset="-122"/>
                <a:cs typeface="Aptos" pitchFamily="34" charset="-120"/>
              </a:rPr>
              <a:t>and the strategic assumptions hidden inside the ranking</a:t>
            </a:r>
            <a:endParaRPr lang="en-US" sz="1500" dirty="0"/>
          </a:p>
        </p:txBody>
      </p:sp>
      <p:sp>
        <p:nvSpPr>
          <p:cNvPr id="6" name="Text 4"/>
          <p:cNvSpPr/>
          <p:nvPr/>
        </p:nvSpPr>
        <p:spPr>
          <a:xfrm>
            <a:off x="6480165" y="2081757"/>
            <a:ext cx="5025730" cy="1212495"/>
          </a:xfrm>
          <a:prstGeom prst="rect">
            <a:avLst/>
          </a:prstGeom>
          <a:noFill/>
          <a:ln/>
        </p:spPr>
        <p:txBody>
          <a:bodyPr wrap="square" lIns="508" tIns="508" rIns="508" bIns="508" rtlCol="0" anchor="ctr">
            <a:normAutofit/>
          </a:bodyPr>
          <a:lstStyle/>
          <a:p>
            <a:pPr indent="0" marL="0">
              <a:buNone/>
            </a:pPr>
            <a:r>
              <a:rPr lang="en-US" sz="1100" dirty="0">
                <a:solidFill>
                  <a:srgbClr val="9EB6BC"/>
                </a:solidFill>
                <a:latin typeface="Aptos" pitchFamily="34" charset="0"/>
                <a:ea typeface="Aptos" pitchFamily="34" charset="-122"/>
                <a:cs typeface="Aptos" pitchFamily="34" charset="-120"/>
              </a:rPr>
              <a:t>&lt;div class="metric metric--stat"&gt;&lt;strong&gt;$94.3bn&lt;/strong&gt;&lt;span&gt;CAPEX represented in the original visual&lt;/span&gt;&lt;/div&gt;</a:t>
            </a:r>
            <a:endParaRPr lang="en-US" sz="1100" dirty="0"/>
          </a:p>
          <a:p>
            <a:pPr indent="0" marL="0">
              <a:buNone/>
            </a:pPr>
            <a:r>
              <a:rPr lang="en-US" sz="1100" dirty="0">
                <a:solidFill>
                  <a:srgbClr val="9EB6BC"/>
                </a:solidFill>
                <a:latin typeface="Aptos" pitchFamily="34" charset="0"/>
                <a:ea typeface="Aptos" pitchFamily="34" charset="-122"/>
                <a:cs typeface="Aptos" pitchFamily="34" charset="-120"/>
              </a:rPr>
              <a:t>&lt;div class="metric metric--stat"&gt;&lt;strong&gt;17&lt;/strong&gt;&lt;span&gt;Independent sources consulted&lt;/span&gt;&lt;/div&gt;</a:t>
            </a:r>
            <a:endParaRPr lang="en-US" sz="1100" dirty="0"/>
          </a:p>
          <a:p>
            <a:pPr indent="0" marL="0">
              <a:buNone/>
            </a:pPr>
            <a:r>
              <a:rPr lang="en-US" sz="1100" dirty="0">
                <a:solidFill>
                  <a:srgbClr val="9EB6BC"/>
                </a:solidFill>
                <a:latin typeface="Aptos" pitchFamily="34" charset="0"/>
                <a:ea typeface="Aptos" pitchFamily="34" charset="-122"/>
                <a:cs typeface="Aptos" pitchFamily="34" charset="-120"/>
              </a:rPr>
              <a:t>&lt;div class="metric metric--stat"&gt;&lt;strong&gt;4&lt;/strong&gt;&lt;span&gt;Amounts independently verified as development CAPEX&lt;/span&gt;&lt;/div&gt;</a:t>
            </a:r>
            <a:endParaRPr lang="en-US" sz="1100" dirty="0"/>
          </a:p>
        </p:txBody>
      </p:sp>
      <p:sp>
        <p:nvSpPr>
          <p:cNvPr id="7" name="Text 5"/>
          <p:cNvSpPr/>
          <p:nvPr/>
        </p:nvSpPr>
        <p:spPr>
          <a:xfrm>
            <a:off x="6480165" y="3327246"/>
            <a:ext cx="5025730" cy="404165"/>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The input was a LinkedIn post. The output was an industry perspective. In under an hour, a simple ranking of the largest FPSO projects became a structured examination of project scope, CAPEX comparability, development status, omitted projects, ownership models, phased versus integrated development, and the strategic assumptions hidden inside the ranking.</a:t>
            </a:r>
            <a:endParaRPr lang="en-US" sz="1500" dirty="0"/>
          </a:p>
        </p:txBody>
      </p:sp>
      <p:sp>
        <p:nvSpPr>
          <p:cNvPr id="8" name="Text 6"/>
          <p:cNvSpPr/>
          <p:nvPr/>
        </p:nvSpPr>
        <p:spPr>
          <a:xfrm>
            <a:off x="457200" y="4526939"/>
            <a:ext cx="11277295" cy="2106853"/>
          </a:xfrm>
          <a:prstGeom prst="rect">
            <a:avLst/>
          </a:prstGeom>
          <a:noFill/>
          <a:ln/>
        </p:spPr>
        <p:txBody>
          <a:bodyPr wrap="square" lIns="508" tIns="508" rIns="508" bIns="508" rtlCol="0" anchor="ctr">
            <a:normAutofit/>
          </a:bodyPr>
          <a:lstStyle/>
          <a:p>
            <a:pPr indent="0" marL="0">
              <a:buNone/>
            </a:pPr>
            <a:r>
              <a:rPr lang="en-US" sz="1100" dirty="0">
                <a:solidFill>
                  <a:srgbClr val="9EB6BC"/>
                </a:solidFill>
                <a:latin typeface="Aptos" pitchFamily="34" charset="0"/>
                <a:ea typeface="Aptos" pitchFamily="34" charset="-122"/>
                <a:cs typeface="Aptos" pitchFamily="34" charset="-120"/>
              </a:rPr>
              <a:t>&lt;p class="caption"&gt;The input was a LinkedIn post. The output was an industry perspective.&lt;/p&gt;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C2B"/>
        </a:solidFill>
      </p:bgPr>
    </p:bg>
    <p:spTree>
      <p:nvGrpSpPr>
        <p:cNvPr id="1" name=""/>
        <p:cNvGrpSpPr/>
        <p:nvPr/>
      </p:nvGrpSpPr>
      <p:grpSpPr>
        <a:xfrm>
          <a:off x="0" y="0"/>
          <a:ext cx="0" cy="0"/>
          <a:chOff x="0" y="0"/>
          <a:chExt cx="0" cy="0"/>
        </a:xfrm>
      </p:grpSpPr>
      <p:sp>
        <p:nvSpPr>
          <p:cNvPr id="2" name="Text 0"/>
          <p:cNvSpPr/>
          <p:nvPr/>
        </p:nvSpPr>
        <p:spPr>
          <a:xfrm>
            <a:off x="457200" y="1743429"/>
            <a:ext cx="11277295" cy="2106853"/>
          </a:xfrm>
          <a:prstGeom prst="rect">
            <a:avLst/>
          </a:prstGeom>
          <a:noFill/>
          <a:ln/>
        </p:spPr>
        <p:txBody>
          <a:bodyPr wrap="square" lIns="508" tIns="508" rIns="508" bIns="508" rtlCol="0" anchor="ctr">
            <a:normAutofit/>
          </a:bodyPr>
          <a:lstStyle/>
          <a:p>
            <a:pPr indent="0" marL="0">
              <a:buNone/>
            </a:pPr>
            <a:r>
              <a:rPr lang="en-US" sz="3000" b="1" dirty="0">
                <a:solidFill>
                  <a:srgbClr val="26C6A3"/>
                </a:solidFill>
                <a:latin typeface="Aptos" pitchFamily="34" charset="0"/>
                <a:ea typeface="Aptos" pitchFamily="34" charset="-122"/>
                <a:cs typeface="Aptos" pitchFamily="34" charset="-120"/>
              </a:rPr>
              <a:t>Start with the LinkedIn visual</a:t>
            </a:r>
            <a:endParaRPr lang="en-US" sz="3000" dirty="0"/>
          </a:p>
        </p:txBody>
      </p:sp>
      <p:pic>
        <p:nvPicPr>
          <p:cNvPr id="3" name="Image 0" descr="Top 10 upcoming FPSO projects to 2030 ranked by CAPEX">
            <a:hlinkClick r:id="rId2" tooltip="Click to enlarge" action="ppaction://hlinksldjump"/>
          </p:cNvPr>
          <p:cNvPicPr>
            <a:picLocks noChangeAspect="1"/>
          </p:cNvPicPr>
          <p:nvPr/>
        </p:nvPicPr>
        <p:blipFill>
          <a:blip r:embed="rId1"/>
          <a:stretch>
            <a:fillRect/>
          </a:stretch>
        </p:blipFill>
        <p:spPr>
          <a:xfrm>
            <a:off x="2992996" y="4645811"/>
            <a:ext cx="1359513" cy="1352716"/>
          </a:xfrm>
          <a:prstGeom prst="rect">
            <a:avLst/>
          </a:prstGeom>
        </p:spPr>
      </p:pic>
      <p:sp>
        <p:nvSpPr>
          <p:cNvPr id="4" name="Text 1"/>
          <p:cNvSpPr/>
          <p:nvPr/>
        </p:nvSpPr>
        <p:spPr>
          <a:xfrm>
            <a:off x="685800" y="5998526"/>
            <a:ext cx="5973906" cy="296938"/>
          </a:xfrm>
          <a:prstGeom prst="rect">
            <a:avLst/>
          </a:prstGeom>
          <a:noFill/>
          <a:ln/>
        </p:spPr>
        <p:txBody>
          <a:bodyPr wrap="square" lIns="254" tIns="254" rIns="254" bIns="254" rtlCol="0" anchor="ctr">
            <a:normAutofit/>
          </a:bodyPr>
          <a:lstStyle/>
          <a:p>
            <a:pPr algn="ctr" indent="0" marL="0">
              <a:buNone/>
            </a:pPr>
            <a:r>
              <a:rPr lang="en-US" sz="1000" i="1" dirty="0">
                <a:solidFill>
                  <a:srgbClr val="9EB6BC"/>
                </a:solidFill>
                <a:latin typeface="Aptos" pitchFamily="34" charset="0"/>
                <a:ea typeface="Aptos" pitchFamily="34" charset="-122"/>
                <a:cs typeface="Aptos" pitchFamily="34" charset="-120"/>
              </a:rPr>
              <a:t>Original ranking visual from Giacomo Prandelli’s LinkedIn post</a:t>
            </a:r>
            <a:endParaRPr lang="en-US" sz="1000" dirty="0"/>
          </a:p>
        </p:txBody>
      </p:sp>
      <p:sp>
        <p:nvSpPr>
          <p:cNvPr id="5" name="Text 2"/>
          <p:cNvSpPr/>
          <p:nvPr/>
        </p:nvSpPr>
        <p:spPr>
          <a:xfrm>
            <a:off x="7139766" y="4645811"/>
            <a:ext cx="4366130" cy="217271"/>
          </a:xfrm>
          <a:prstGeom prst="rect">
            <a:avLst/>
          </a:prstGeom>
          <a:noFill/>
          <a:ln/>
        </p:spPr>
        <p:txBody>
          <a:bodyPr wrap="square" lIns="508" tIns="508" rIns="508" bIns="508" rtlCol="0" anchor="ctr">
            <a:normAutofit/>
          </a:bodyPr>
          <a:lstStyle/>
          <a:p>
            <a:pPr indent="0" marL="0">
              <a:buNone/>
            </a:pPr>
            <a:r>
              <a:rPr lang="en-US" sz="2600" b="1" dirty="0">
                <a:solidFill>
                  <a:srgbClr val="EDF7F7"/>
                </a:solidFill>
                <a:latin typeface="Aptos" pitchFamily="34" charset="0"/>
                <a:ea typeface="Aptos" pitchFamily="34" charset="-122"/>
                <a:cs typeface="Aptos" pitchFamily="34" charset="-120"/>
              </a:rPr>
              <a:t>Giacomo Prandelli’s post makes a sharp geographic argument: nine of ten highest-CAPEX FPSO projects shown sit in the South Atlantic.</a:t>
            </a:r>
            <a:endParaRPr lang="en-US" sz="2600" dirty="0"/>
          </a:p>
        </p:txBody>
      </p:sp>
      <p:sp>
        <p:nvSpPr>
          <p:cNvPr id="6" name="Text 3"/>
          <p:cNvSpPr/>
          <p:nvPr/>
        </p:nvSpPr>
        <p:spPr>
          <a:xfrm>
            <a:off x="7139766" y="4896075"/>
            <a:ext cx="4366130" cy="181060"/>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Source: </a:t>
            </a:r>
            <a:pPr indent="0" marL="0">
              <a:buNone/>
            </a:pPr>
            <a:r>
              <a:rPr lang="en-US" sz="1500" u="sng" dirty="0">
                <a:solidFill>
                  <a:srgbClr val="EDF7F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linkedin.com/posts/prandelligiacomo…</a:t>
            </a:r>
            <a:endParaRPr lang="en-US" sz="1500" dirty="0"/>
          </a:p>
        </p:txBody>
      </p:sp>
      <p:pic>
        <p:nvPicPr>
          <p:cNvPr id="7" name="Image 1" descr="QR code for https://www.linkedin.com/posts/prandelligiacomo_94-billion-thats-what-the-top-10-fpso-activity-7482020247210815488-DdkV">
            <a:hlinkClick r:id="rId5" tooltip=""/>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51241" y="5110128"/>
            <a:ext cx="543179" cy="543179"/>
          </a:xfrm>
          <a:prstGeom prst="rect">
            <a:avLst/>
          </a:prstGeom>
        </p:spPr>
      </p:pic>
      <p:sp>
        <p:nvSpPr>
          <p:cNvPr id="8" name="Text 4"/>
          <p:cNvSpPr/>
          <p:nvPr/>
        </p:nvSpPr>
        <p:spPr>
          <a:xfrm>
            <a:off x="7139766" y="5686299"/>
            <a:ext cx="4366130" cy="181060"/>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Scan to open the original LinkedIn post and visual.</a:t>
            </a:r>
            <a:endParaRPr lang="en-US" sz="1500" dirty="0"/>
          </a:p>
        </p:txBody>
      </p:sp>
      <p:sp>
        <p:nvSpPr>
          <p:cNvPr id="9" name="Text 5"/>
          <p:cNvSpPr/>
          <p:nvPr/>
        </p:nvSpPr>
        <p:spPr>
          <a:xfrm>
            <a:off x="7139766" y="5900352"/>
            <a:ext cx="4366130" cy="181060"/>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Uaru and Whiptail lead at US$12.7bn each. Petrobras supplies five entries. Only Bonga Southwest/Aparo sits outside the South Atlantic cluster.</a:t>
            </a:r>
            <a:endParaRPr lang="en-US" sz="1500" dirty="0"/>
          </a:p>
        </p:txBody>
      </p:sp>
      <p:sp>
        <p:nvSpPr>
          <p:cNvPr id="10" name="Text 6"/>
          <p:cNvSpPr/>
          <p:nvPr/>
        </p:nvSpPr>
        <p:spPr>
          <a:xfrm>
            <a:off x="7139766" y="6114404"/>
            <a:ext cx="4366130" cy="181060"/>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We begin with the original LinkedIn visual. Giacomo Prandelli’s post claims the top ten FPSO projects through 2030 are worth about ninety-four billion dollars. Scan the QR code to open the source post. The chart concentrates capital in Guyana, Suriname, Brazil, and one Nigerian project.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C2B"/>
        </a:solidFill>
      </p:bgPr>
    </p:bg>
    <p:spTree>
      <p:nvGrpSpPr>
        <p:cNvPr id="1" name=""/>
        <p:cNvGrpSpPr/>
        <p:nvPr/>
      </p:nvGrpSpPr>
      <p:grpSpPr>
        <a:xfrm>
          <a:off x="0" y="0"/>
          <a:ext cx="0" cy="0"/>
          <a:chOff x="0" y="0"/>
          <a:chExt cx="0" cy="0"/>
        </a:xfrm>
      </p:grpSpPr>
      <p:sp>
        <p:nvSpPr>
          <p:cNvPr id="2" name="Text 0"/>
          <p:cNvSpPr/>
          <p:nvPr/>
        </p:nvSpPr>
        <p:spPr>
          <a:xfrm>
            <a:off x="457200" y="1743429"/>
            <a:ext cx="11277295" cy="1252169"/>
          </a:xfrm>
          <a:prstGeom prst="rect">
            <a:avLst/>
          </a:prstGeom>
          <a:noFill/>
          <a:ln/>
        </p:spPr>
        <p:txBody>
          <a:bodyPr wrap="square" lIns="508" tIns="508" rIns="508" bIns="508" rtlCol="0" anchor="ctr">
            <a:normAutofit/>
          </a:bodyPr>
          <a:lstStyle/>
          <a:p>
            <a:pPr indent="0" marL="0">
              <a:buNone/>
            </a:pPr>
            <a:r>
              <a:rPr lang="en-US" sz="3000" b="1" dirty="0">
                <a:solidFill>
                  <a:srgbClr val="26C6A3"/>
                </a:solidFill>
                <a:latin typeface="Aptos" pitchFamily="34" charset="0"/>
                <a:ea typeface="Aptos" pitchFamily="34" charset="-122"/>
                <a:cs typeface="Aptos" pitchFamily="34" charset="-120"/>
              </a:rPr>
              <a:t>Capital clusters across the Atlantic margin</a:t>
            </a:r>
            <a:endParaRPr lang="en-US" sz="3000" dirty="0"/>
          </a:p>
        </p:txBody>
      </p:sp>
      <p:sp>
        <p:nvSpPr>
          <p:cNvPr id="3" name="Text 1"/>
          <p:cNvSpPr/>
          <p:nvPr/>
        </p:nvSpPr>
        <p:spPr>
          <a:xfrm>
            <a:off x="685800" y="3791126"/>
            <a:ext cx="10820095" cy="794969"/>
          </a:xfrm>
          <a:prstGeom prst="rect">
            <a:avLst/>
          </a:prstGeom>
          <a:noFill/>
          <a:ln/>
        </p:spPr>
        <p:txBody>
          <a:bodyPr wrap="square" lIns="508" tIns="508" rIns="508" bIns="508" rtlCol="0" anchor="ctr">
            <a:normAutofit/>
          </a:bodyPr>
          <a:lstStyle/>
          <a:p>
            <a:pPr indent="0" marL="0">
              <a:buNone/>
            </a:pPr>
            <a:r>
              <a:rPr lang="en-US" sz="1100" dirty="0">
                <a:solidFill>
                  <a:srgbClr val="9EB6BC"/>
                </a:solidFill>
                <a:latin typeface="Aptos" pitchFamily="34" charset="0"/>
                <a:ea typeface="Aptos" pitchFamily="34" charset="-122"/>
                <a:cs typeface="Aptos" pitchFamily="34" charset="-120"/>
              </a:rPr>
              <a:t>{"type":"markers","entity":"data.capex_ranking.prandelli-top10-fpso-to-2030.projects","label":"project_name","location":"offshore_area","latitude":"latitude","longitude":"longitude","order":"startDate","strategy":"chronological","color":"operator_name","size":"claimed_capex_m","limit":10,"projection":"natural-earth","callouts":["Uaru","GranMorgu","Atapu Development","Raia","Bonga Southwest/Aparo"],"flag":"country_id","colormap":"operator.display_colors","zoom_to_data":true}</a:t>
            </a:r>
            <a:endParaRPr lang="en-US" sz="1100" dirty="0"/>
          </a:p>
        </p:txBody>
      </p:sp>
      <p:sp>
        <p:nvSpPr>
          <p:cNvPr id="4" name="Text 2"/>
          <p:cNvSpPr/>
          <p:nvPr/>
        </p:nvSpPr>
        <p:spPr>
          <a:xfrm>
            <a:off x="457200" y="5381623"/>
            <a:ext cx="11277295" cy="613563"/>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Marker area is proportional to stated CAPEX; color identifies operator. Coordinates are representative offshore project positions for portfolio visualization, not navigation.</a:t>
            </a:r>
            <a:endParaRPr lang="en-US" sz="1500" dirty="0"/>
          </a:p>
        </p:txBody>
      </p:sp>
      <p:sp>
        <p:nvSpPr>
          <p:cNvPr id="5" name="Text 3"/>
          <p:cNvSpPr/>
          <p:nvPr/>
        </p:nvSpPr>
        <p:spPr>
          <a:xfrm>
            <a:off x="457200" y="6020229"/>
            <a:ext cx="11277295" cy="613563"/>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Geography sharpens the ranking's central signal. Nine projects cluster along the South Atlantic margin, from Guyana and Suriname to Brazil, while Bonga is the sole West African entry. Marker area follows stated CAPEX and color identifies the operator, revealing both geographic and operator concentration at a glance.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C2B"/>
        </a:solidFill>
      </p:bgPr>
    </p:bg>
    <p:spTree>
      <p:nvGrpSpPr>
        <p:cNvPr id="1" name=""/>
        <p:cNvGrpSpPr/>
        <p:nvPr/>
      </p:nvGrpSpPr>
      <p:grpSpPr>
        <a:xfrm>
          <a:off x="0" y="0"/>
          <a:ext cx="0" cy="0"/>
          <a:chOff x="0" y="0"/>
          <a:chExt cx="0" cy="0"/>
        </a:xfrm>
      </p:grpSpPr>
      <p:sp>
        <p:nvSpPr>
          <p:cNvPr id="2" name="Text 0"/>
          <p:cNvSpPr/>
          <p:nvPr/>
        </p:nvSpPr>
        <p:spPr>
          <a:xfrm>
            <a:off x="457200" y="1743429"/>
            <a:ext cx="11277295" cy="2106853"/>
          </a:xfrm>
          <a:prstGeom prst="rect">
            <a:avLst/>
          </a:prstGeom>
          <a:noFill/>
          <a:ln/>
        </p:spPr>
        <p:txBody>
          <a:bodyPr wrap="square" lIns="508" tIns="508" rIns="508" bIns="508" rtlCol="0" anchor="ctr">
            <a:normAutofit/>
          </a:bodyPr>
          <a:lstStyle/>
          <a:p>
            <a:pPr indent="0" marL="0">
              <a:buNone/>
            </a:pPr>
            <a:r>
              <a:rPr lang="en-US" sz="3000" b="1" dirty="0">
                <a:solidFill>
                  <a:srgbClr val="26C6A3"/>
                </a:solidFill>
                <a:latin typeface="Aptos" pitchFamily="34" charset="0"/>
                <a:ea typeface="Aptos" pitchFamily="34" charset="-122"/>
                <a:cs typeface="Aptos" pitchFamily="34" charset="-120"/>
              </a:rPr>
              <a:t>What do the numbers actually include?</a:t>
            </a:r>
            <a:endParaRPr lang="en-US" sz="3000" dirty="0"/>
          </a:p>
        </p:txBody>
      </p:sp>
      <p:sp>
        <p:nvSpPr>
          <p:cNvPr id="3" name="Text 1"/>
          <p:cNvSpPr/>
          <p:nvPr/>
        </p:nvSpPr>
        <p:spPr>
          <a:xfrm>
            <a:off x="685800" y="4645811"/>
            <a:ext cx="10820095" cy="1212495"/>
          </a:xfrm>
          <a:prstGeom prst="rect">
            <a:avLst/>
          </a:prstGeom>
          <a:noFill/>
          <a:ln/>
        </p:spPr>
        <p:txBody>
          <a:bodyPr wrap="square" lIns="508" tIns="508" rIns="508" bIns="508" rtlCol="0" anchor="ctr">
            <a:normAutofit/>
          </a:bodyPr>
          <a:lstStyle/>
          <a:p>
            <a:pPr indent="0" marL="0">
              <a:buNone/>
            </a:pPr>
            <a:r>
              <a:rPr lang="en-US" sz="1100" dirty="0">
                <a:solidFill>
                  <a:srgbClr val="9EB6BC"/>
                </a:solidFill>
                <a:latin typeface="Aptos" pitchFamily="34" charset="0"/>
                <a:ea typeface="Aptos" pitchFamily="34" charset="-122"/>
                <a:cs typeface="Aptos" pitchFamily="34" charset="-120"/>
              </a:rPr>
              <a:t>&lt;blockquote&gt;&lt;p&gt;Those values are including which investments, besides the FPSOs per se?&lt;/p&gt;&lt;/blockquote&gt;</a:t>
            </a:r>
            <a:endParaRPr lang="en-US" sz="1100" dirty="0"/>
          </a:p>
          <a:p>
            <a:pPr indent="0" marL="0">
              <a:buNone/>
            </a:pPr>
            <a:r>
              <a:rPr lang="en-US" sz="1100" dirty="0">
                <a:solidFill>
                  <a:srgbClr val="9EB6BC"/>
                </a:solidFill>
                <a:latin typeface="Aptos" pitchFamily="34" charset="0"/>
                <a:ea typeface="Aptos" pitchFamily="34" charset="-122"/>
                <a:cs typeface="Aptos" pitchFamily="34" charset="-120"/>
              </a:rPr>
              <a:t>&lt;p class="label"&gt;Luciano Jorge de Carvalho Junior · LinkedIn comment&lt;/p&gt;</a:t>
            </a:r>
            <a:endParaRPr lang="en-US" sz="1100" dirty="0"/>
          </a:p>
          <a:p>
            <a:pPr indent="0" marL="0">
              <a:buNone/>
            </a:pPr>
            <a:r>
              <a:rPr lang="en-US" sz="1100" dirty="0">
                <a:solidFill>
                  <a:srgbClr val="9EB6BC"/>
                </a:solidFill>
                <a:latin typeface="Aptos" pitchFamily="34" charset="0"/>
                <a:ea typeface="Aptos" pitchFamily="34" charset="-122"/>
                <a:cs typeface="Aptos" pitchFamily="34" charset="-120"/>
              </a:rPr>
              <a:t>&lt;p&gt;A precise-looking ranking can still mislead if FPSO vessel prices are mixed with full-field development costs. Until primary sources define a common cost boundary, the visual’s figures are treated as stated project values — not FPSO-only CAPEX.&lt;/p&gt;</a:t>
            </a:r>
            <a:endParaRPr lang="en-US" sz="1100" dirty="0"/>
          </a:p>
        </p:txBody>
      </p:sp>
      <p:sp>
        <p:nvSpPr>
          <p:cNvPr id="4" name="Text 2"/>
          <p:cNvSpPr/>
          <p:nvPr/>
        </p:nvSpPr>
        <p:spPr>
          <a:xfrm>
            <a:off x="685800" y="5891299"/>
            <a:ext cx="10820095" cy="404165"/>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A comment under the post asked the decisive question: which investments, besides the FPSOs themselves, are included in these values? That question sets the research agenda. Without a shared cost boundary, the ranking can look exact while comparing unlike scopes.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C2B"/>
        </a:solidFill>
      </p:bgPr>
    </p:bg>
    <p:spTree>
      <p:nvGrpSpPr>
        <p:cNvPr id="1" name=""/>
        <p:cNvGrpSpPr/>
        <p:nvPr/>
      </p:nvGrpSpPr>
      <p:grpSpPr>
        <a:xfrm>
          <a:off x="0" y="0"/>
          <a:ext cx="0" cy="0"/>
          <a:chOff x="0" y="0"/>
          <a:chExt cx="0" cy="0"/>
        </a:xfrm>
      </p:grpSpPr>
      <p:sp>
        <p:nvSpPr>
          <p:cNvPr id="2" name="Text 0"/>
          <p:cNvSpPr/>
          <p:nvPr/>
        </p:nvSpPr>
        <p:spPr>
          <a:xfrm>
            <a:off x="457200" y="1743429"/>
            <a:ext cx="11277295" cy="2161717"/>
          </a:xfrm>
          <a:prstGeom prst="rect">
            <a:avLst/>
          </a:prstGeom>
          <a:noFill/>
          <a:ln/>
        </p:spPr>
        <p:txBody>
          <a:bodyPr wrap="square" lIns="508" tIns="508" rIns="508" bIns="508" rtlCol="0" anchor="ctr">
            <a:normAutofit/>
          </a:bodyPr>
          <a:lstStyle/>
          <a:p>
            <a:pPr indent="0" marL="0">
              <a:buNone/>
            </a:pPr>
            <a:r>
              <a:rPr lang="en-US" sz="3000" b="1" dirty="0">
                <a:solidFill>
                  <a:srgbClr val="26C6A3"/>
                </a:solidFill>
                <a:latin typeface="Aptos" pitchFamily="34" charset="0"/>
                <a:ea typeface="Aptos" pitchFamily="34" charset="-122"/>
                <a:cs typeface="Aptos" pitchFamily="34" charset="-120"/>
              </a:rPr>
              <a:t>Separate claims before reconciling them</a:t>
            </a:r>
            <a:endParaRPr lang="en-US" sz="3000" dirty="0"/>
          </a:p>
        </p:txBody>
      </p:sp>
      <p:sp>
        <p:nvSpPr>
          <p:cNvPr id="3" name="Text 1"/>
          <p:cNvSpPr/>
          <p:nvPr/>
        </p:nvSpPr>
        <p:spPr>
          <a:xfrm>
            <a:off x="685800" y="4700675"/>
            <a:ext cx="3295549" cy="185669"/>
          </a:xfrm>
          <a:prstGeom prst="rect">
            <a:avLst/>
          </a:prstGeom>
          <a:noFill/>
          <a:ln/>
        </p:spPr>
        <p:txBody>
          <a:bodyPr wrap="square" lIns="508" tIns="508" rIns="508" bIns="508" rtlCol="0" anchor="ctr">
            <a:normAutofit/>
          </a:bodyPr>
          <a:lstStyle/>
          <a:p>
            <a:pPr indent="0" marL="0">
              <a:buNone/>
            </a:pPr>
            <a:r>
              <a:rPr lang="en-US" sz="1500" b="1" dirty="0">
                <a:solidFill>
                  <a:srgbClr val="EDF7F7"/>
                </a:solidFill>
                <a:latin typeface="Aptos" pitchFamily="34" charset="0"/>
                <a:ea typeface="Aptos" pitchFamily="34" charset="-122"/>
                <a:cs typeface="Aptos" pitchFamily="34" charset="-120"/>
              </a:rPr>
              <a:t>Step 01</a:t>
            </a:r>
            <a:endParaRPr lang="en-US" sz="1500" dirty="0"/>
          </a:p>
        </p:txBody>
      </p:sp>
      <p:sp>
        <p:nvSpPr>
          <p:cNvPr id="4" name="Text 2"/>
          <p:cNvSpPr/>
          <p:nvPr/>
        </p:nvSpPr>
        <p:spPr>
          <a:xfrm>
            <a:off x="685800" y="4898721"/>
            <a:ext cx="3295549" cy="222803"/>
          </a:xfrm>
          <a:prstGeom prst="rect">
            <a:avLst/>
          </a:prstGeom>
          <a:noFill/>
          <a:ln/>
        </p:spPr>
        <p:txBody>
          <a:bodyPr wrap="square" lIns="508" tIns="508" rIns="508" bIns="508" rtlCol="0" anchor="ctr">
            <a:normAutofit/>
          </a:bodyPr>
          <a:lstStyle/>
          <a:p>
            <a:pPr indent="0" marL="0">
              <a:buNone/>
            </a:pPr>
            <a:r>
              <a:rPr lang="en-US" sz="2200" dirty="0">
                <a:solidFill>
                  <a:srgbClr val="EDF7F7"/>
                </a:solidFill>
                <a:latin typeface="Aptos" pitchFamily="34" charset="0"/>
                <a:ea typeface="Aptos" pitchFamily="34" charset="-122"/>
                <a:cs typeface="Aptos" pitchFamily="34" charset="-120"/>
              </a:rPr>
              <a:t>Preserve the trigger</a:t>
            </a:r>
            <a:endParaRPr lang="en-US" sz="2200" dirty="0"/>
          </a:p>
        </p:txBody>
      </p:sp>
      <p:sp>
        <p:nvSpPr>
          <p:cNvPr id="5" name="Text 3"/>
          <p:cNvSpPr/>
          <p:nvPr/>
        </p:nvSpPr>
        <p:spPr>
          <a:xfrm>
            <a:off x="685800" y="5133902"/>
            <a:ext cx="3295549" cy="185669"/>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Transcribe the LinkedIn ranking and ten project rows into their own provenance file. Do not rewrite the published visual.</a:t>
            </a:r>
            <a:endParaRPr lang="en-US" sz="1500" dirty="0"/>
          </a:p>
        </p:txBody>
      </p:sp>
      <p:sp>
        <p:nvSpPr>
          <p:cNvPr id="6" name="Text 4"/>
          <p:cNvSpPr/>
          <p:nvPr/>
        </p:nvSpPr>
        <p:spPr>
          <a:xfrm>
            <a:off x="4448073" y="4700675"/>
            <a:ext cx="3295549" cy="185669"/>
          </a:xfrm>
          <a:prstGeom prst="rect">
            <a:avLst/>
          </a:prstGeom>
          <a:noFill/>
          <a:ln/>
        </p:spPr>
        <p:txBody>
          <a:bodyPr wrap="square" lIns="508" tIns="508" rIns="508" bIns="508" rtlCol="0" anchor="ctr">
            <a:normAutofit/>
          </a:bodyPr>
          <a:lstStyle/>
          <a:p>
            <a:pPr indent="0" marL="0">
              <a:buNone/>
            </a:pPr>
            <a:r>
              <a:rPr lang="en-US" sz="1500" b="1" dirty="0">
                <a:solidFill>
                  <a:srgbClr val="EDF7F7"/>
                </a:solidFill>
                <a:latin typeface="Aptos" pitchFamily="34" charset="0"/>
                <a:ea typeface="Aptos" pitchFamily="34" charset="-122"/>
                <a:cs typeface="Aptos" pitchFamily="34" charset="-120"/>
              </a:rPr>
              <a:t>Step 02</a:t>
            </a:r>
            <a:endParaRPr lang="en-US" sz="1500" dirty="0"/>
          </a:p>
        </p:txBody>
      </p:sp>
      <p:sp>
        <p:nvSpPr>
          <p:cNvPr id="7" name="Text 5"/>
          <p:cNvSpPr/>
          <p:nvPr/>
        </p:nvSpPr>
        <p:spPr>
          <a:xfrm>
            <a:off x="4448073" y="4898721"/>
            <a:ext cx="3295549" cy="222803"/>
          </a:xfrm>
          <a:prstGeom prst="rect">
            <a:avLst/>
          </a:prstGeom>
          <a:noFill/>
          <a:ln/>
        </p:spPr>
        <p:txBody>
          <a:bodyPr wrap="square" lIns="508" tIns="508" rIns="508" bIns="508" rtlCol="0" anchor="ctr">
            <a:normAutofit/>
          </a:bodyPr>
          <a:lstStyle/>
          <a:p>
            <a:pPr indent="0" marL="0">
              <a:buNone/>
            </a:pPr>
            <a:r>
              <a:rPr lang="en-US" sz="2200" dirty="0">
                <a:solidFill>
                  <a:srgbClr val="EDF7F7"/>
                </a:solidFill>
                <a:latin typeface="Aptos" pitchFamily="34" charset="0"/>
                <a:ea typeface="Aptos" pitchFamily="34" charset="-122"/>
                <a:cs typeface="Aptos" pitchFamily="34" charset="-120"/>
              </a:rPr>
              <a:t>Capture discussion</a:t>
            </a:r>
            <a:endParaRPr lang="en-US" sz="2200" dirty="0"/>
          </a:p>
        </p:txBody>
      </p:sp>
      <p:sp>
        <p:nvSpPr>
          <p:cNvPr id="8" name="Text 6"/>
          <p:cNvSpPr/>
          <p:nvPr/>
        </p:nvSpPr>
        <p:spPr>
          <a:xfrm>
            <a:off x="4448073" y="5133902"/>
            <a:ext cx="3295549" cy="185669"/>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Store comment-proposed projects — Wisting, Tangkulo, Bay du Nord, Venus, PAJ — as discussion mentions, not silent inserts into the top ten.</a:t>
            </a:r>
            <a:endParaRPr lang="en-US" sz="1500" dirty="0"/>
          </a:p>
        </p:txBody>
      </p:sp>
      <p:sp>
        <p:nvSpPr>
          <p:cNvPr id="9" name="Text 7"/>
          <p:cNvSpPr/>
          <p:nvPr/>
        </p:nvSpPr>
        <p:spPr>
          <a:xfrm>
            <a:off x="8210347" y="4700675"/>
            <a:ext cx="3295549" cy="185669"/>
          </a:xfrm>
          <a:prstGeom prst="rect">
            <a:avLst/>
          </a:prstGeom>
          <a:noFill/>
          <a:ln/>
        </p:spPr>
        <p:txBody>
          <a:bodyPr wrap="square" lIns="508" tIns="508" rIns="508" bIns="508" rtlCol="0" anchor="ctr">
            <a:normAutofit/>
          </a:bodyPr>
          <a:lstStyle/>
          <a:p>
            <a:pPr indent="0" marL="0">
              <a:buNone/>
            </a:pPr>
            <a:r>
              <a:rPr lang="en-US" sz="1500" b="1" dirty="0">
                <a:solidFill>
                  <a:srgbClr val="EDF7F7"/>
                </a:solidFill>
                <a:latin typeface="Aptos" pitchFamily="34" charset="0"/>
                <a:ea typeface="Aptos" pitchFamily="34" charset="-122"/>
                <a:cs typeface="Aptos" pitchFamily="34" charset="-120"/>
              </a:rPr>
              <a:t>Step 03</a:t>
            </a:r>
            <a:endParaRPr lang="en-US" sz="1500" dirty="0"/>
          </a:p>
        </p:txBody>
      </p:sp>
      <p:sp>
        <p:nvSpPr>
          <p:cNvPr id="10" name="Text 8"/>
          <p:cNvSpPr/>
          <p:nvPr/>
        </p:nvSpPr>
        <p:spPr>
          <a:xfrm>
            <a:off x="8210347" y="4898721"/>
            <a:ext cx="3295549" cy="222803"/>
          </a:xfrm>
          <a:prstGeom prst="rect">
            <a:avLst/>
          </a:prstGeom>
          <a:noFill/>
          <a:ln/>
        </p:spPr>
        <p:txBody>
          <a:bodyPr wrap="square" lIns="508" tIns="508" rIns="508" bIns="508" rtlCol="0" anchor="ctr">
            <a:normAutofit/>
          </a:bodyPr>
          <a:lstStyle/>
          <a:p>
            <a:pPr indent="0" marL="0">
              <a:buNone/>
            </a:pPr>
            <a:r>
              <a:rPr lang="en-US" sz="2200" dirty="0">
                <a:solidFill>
                  <a:srgbClr val="EDF7F7"/>
                </a:solidFill>
                <a:latin typeface="Aptos" pitchFamily="34" charset="0"/>
                <a:ea typeface="Aptos" pitchFamily="34" charset="-122"/>
                <a:cs typeface="Aptos" pitchFamily="34" charset="-120"/>
              </a:rPr>
              <a:t>Seek primary sources</a:t>
            </a:r>
            <a:endParaRPr lang="en-US" sz="2200" dirty="0"/>
          </a:p>
        </p:txBody>
      </p:sp>
      <p:sp>
        <p:nvSpPr>
          <p:cNvPr id="11" name="Text 9"/>
          <p:cNvSpPr/>
          <p:nvPr/>
        </p:nvSpPr>
        <p:spPr>
          <a:xfrm>
            <a:off x="8210347" y="5133902"/>
            <a:ext cx="3295549" cy="185669"/>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Match each amount against operator, regulator, and contract disclosures from ExxonMobil, TotalEnergies, Equinor, Petrobras, ANPG, and others.</a:t>
            </a:r>
            <a:endParaRPr lang="en-US" sz="1500" dirty="0"/>
          </a:p>
        </p:txBody>
      </p:sp>
      <p:sp>
        <p:nvSpPr>
          <p:cNvPr id="12" name="Text 10"/>
          <p:cNvSpPr/>
          <p:nvPr/>
        </p:nvSpPr>
        <p:spPr>
          <a:xfrm>
            <a:off x="685800" y="5786296"/>
            <a:ext cx="3295549" cy="185669"/>
          </a:xfrm>
          <a:prstGeom prst="rect">
            <a:avLst/>
          </a:prstGeom>
          <a:noFill/>
          <a:ln/>
        </p:spPr>
        <p:txBody>
          <a:bodyPr wrap="square" lIns="508" tIns="508" rIns="508" bIns="508" rtlCol="0" anchor="ctr">
            <a:normAutofit/>
          </a:bodyPr>
          <a:lstStyle/>
          <a:p>
            <a:pPr indent="0" marL="0">
              <a:buNone/>
            </a:pPr>
            <a:r>
              <a:rPr lang="en-US" sz="1500" b="1" dirty="0">
                <a:solidFill>
                  <a:srgbClr val="EDF7F7"/>
                </a:solidFill>
                <a:latin typeface="Aptos" pitchFamily="34" charset="0"/>
                <a:ea typeface="Aptos" pitchFamily="34" charset="-122"/>
                <a:cs typeface="Aptos" pitchFamily="34" charset="-120"/>
              </a:rPr>
              <a:t>Step 04</a:t>
            </a:r>
            <a:endParaRPr lang="en-US" sz="1500" dirty="0"/>
          </a:p>
        </p:txBody>
      </p:sp>
      <p:sp>
        <p:nvSpPr>
          <p:cNvPr id="13" name="Text 11"/>
          <p:cNvSpPr/>
          <p:nvPr/>
        </p:nvSpPr>
        <p:spPr>
          <a:xfrm>
            <a:off x="685800" y="5984343"/>
            <a:ext cx="3295549" cy="222803"/>
          </a:xfrm>
          <a:prstGeom prst="rect">
            <a:avLst/>
          </a:prstGeom>
          <a:noFill/>
          <a:ln/>
        </p:spPr>
        <p:txBody>
          <a:bodyPr wrap="square" lIns="508" tIns="508" rIns="508" bIns="508" rtlCol="0" anchor="ctr">
            <a:normAutofit/>
          </a:bodyPr>
          <a:lstStyle/>
          <a:p>
            <a:pPr indent="0" marL="0">
              <a:buNone/>
            </a:pPr>
            <a:r>
              <a:rPr lang="en-US" sz="2200" dirty="0">
                <a:solidFill>
                  <a:srgbClr val="EDF7F7"/>
                </a:solidFill>
                <a:latin typeface="Aptos" pitchFamily="34" charset="0"/>
                <a:ea typeface="Aptos" pitchFamily="34" charset="-122"/>
                <a:cs typeface="Aptos" pitchFamily="34" charset="-120"/>
              </a:rPr>
              <a:t>Classify evidence</a:t>
            </a:r>
            <a:endParaRPr lang="en-US" sz="2200" dirty="0"/>
          </a:p>
        </p:txBody>
      </p:sp>
      <p:sp>
        <p:nvSpPr>
          <p:cNvPr id="14" name="Text 12"/>
          <p:cNvSpPr/>
          <p:nvPr/>
        </p:nvSpPr>
        <p:spPr>
          <a:xfrm>
            <a:off x="685800" y="6219523"/>
            <a:ext cx="3295549" cy="185669"/>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Label each row verified development CAPEX, identity-only, conflicting scope, or not ranked — keeping currencies and horizons intact.</a:t>
            </a:r>
            <a:endParaRPr lang="en-US" sz="1500" dirty="0"/>
          </a:p>
        </p:txBody>
      </p:sp>
      <p:sp>
        <p:nvSpPr>
          <p:cNvPr id="15" name="Text 13"/>
          <p:cNvSpPr/>
          <p:nvPr/>
        </p:nvSpPr>
        <p:spPr>
          <a:xfrm>
            <a:off x="4448073" y="5786296"/>
            <a:ext cx="3295549" cy="185669"/>
          </a:xfrm>
          <a:prstGeom prst="rect">
            <a:avLst/>
          </a:prstGeom>
          <a:noFill/>
          <a:ln/>
        </p:spPr>
        <p:txBody>
          <a:bodyPr wrap="square" lIns="508" tIns="508" rIns="508" bIns="508" rtlCol="0" anchor="ctr">
            <a:normAutofit/>
          </a:bodyPr>
          <a:lstStyle/>
          <a:p>
            <a:pPr indent="0" marL="0">
              <a:buNone/>
            </a:pPr>
            <a:r>
              <a:rPr lang="en-US" sz="1500" b="1" dirty="0">
                <a:solidFill>
                  <a:srgbClr val="EDF7F7"/>
                </a:solidFill>
                <a:latin typeface="Aptos" pitchFamily="34" charset="0"/>
                <a:ea typeface="Aptos" pitchFamily="34" charset="-122"/>
                <a:cs typeface="Aptos" pitchFamily="34" charset="-120"/>
              </a:rPr>
              <a:t>Step 05</a:t>
            </a:r>
            <a:endParaRPr lang="en-US" sz="1500" dirty="0"/>
          </a:p>
        </p:txBody>
      </p:sp>
      <p:sp>
        <p:nvSpPr>
          <p:cNvPr id="16" name="Text 14"/>
          <p:cNvSpPr/>
          <p:nvPr/>
        </p:nvSpPr>
        <p:spPr>
          <a:xfrm>
            <a:off x="4448073" y="5984343"/>
            <a:ext cx="3295549" cy="222803"/>
          </a:xfrm>
          <a:prstGeom prst="rect">
            <a:avLst/>
          </a:prstGeom>
          <a:noFill/>
          <a:ln/>
        </p:spPr>
        <p:txBody>
          <a:bodyPr wrap="square" lIns="508" tIns="508" rIns="508" bIns="508" rtlCol="0" anchor="ctr">
            <a:normAutofit/>
          </a:bodyPr>
          <a:lstStyle/>
          <a:p>
            <a:pPr indent="0" marL="0">
              <a:buNone/>
            </a:pPr>
            <a:r>
              <a:rPr lang="en-US" sz="2200" dirty="0">
                <a:solidFill>
                  <a:srgbClr val="EDF7F7"/>
                </a:solidFill>
                <a:latin typeface="Aptos" pitchFamily="34" charset="0"/>
                <a:ea typeface="Aptos" pitchFamily="34" charset="-122"/>
                <a:cs typeface="Aptos" pitchFamily="34" charset="-120"/>
              </a:rPr>
              <a:t>Refuse false precision</a:t>
            </a:r>
            <a:endParaRPr lang="en-US" sz="2200" dirty="0"/>
          </a:p>
        </p:txBody>
      </p:sp>
      <p:sp>
        <p:nvSpPr>
          <p:cNvPr id="17" name="Text 15"/>
          <p:cNvSpPr/>
          <p:nvPr/>
        </p:nvSpPr>
        <p:spPr>
          <a:xfrm>
            <a:off x="4448073" y="6219523"/>
            <a:ext cx="3295549" cy="185669"/>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Do not convert CAD or NOK, or promote lower-bound estimates, into a new ordinal league table without a common basis.</a:t>
            </a:r>
            <a:endParaRPr lang="en-US" sz="1500" dirty="0"/>
          </a:p>
        </p:txBody>
      </p:sp>
      <p:sp>
        <p:nvSpPr>
          <p:cNvPr id="18" name="Text 16"/>
          <p:cNvSpPr/>
          <p:nvPr/>
        </p:nvSpPr>
        <p:spPr>
          <a:xfrm>
            <a:off x="8210347" y="5786296"/>
            <a:ext cx="3295549" cy="164592"/>
          </a:xfrm>
          <a:prstGeom prst="rect">
            <a:avLst/>
          </a:prstGeom>
          <a:noFill/>
          <a:ln/>
        </p:spPr>
        <p:txBody>
          <a:bodyPr wrap="square" lIns="508" tIns="508" rIns="508" bIns="508" rtlCol="0" anchor="ctr">
            <a:normAutofit/>
          </a:bodyPr>
          <a:lstStyle/>
          <a:p>
            <a:pPr indent="0" marL="0">
              <a:buNone/>
            </a:pPr>
            <a:r>
              <a:rPr lang="en-US" sz="1500" b="1" dirty="0">
                <a:solidFill>
                  <a:srgbClr val="EDF7F7"/>
                </a:solidFill>
                <a:latin typeface="Aptos" pitchFamily="34" charset="0"/>
                <a:ea typeface="Aptos" pitchFamily="34" charset="-122"/>
                <a:cs typeface="Aptos" pitchFamily="34" charset="-120"/>
              </a:rPr>
              <a:t>Step 06</a:t>
            </a:r>
            <a:endParaRPr lang="en-US" sz="1500" dirty="0"/>
          </a:p>
        </p:txBody>
      </p:sp>
      <p:sp>
        <p:nvSpPr>
          <p:cNvPr id="19" name="Text 17"/>
          <p:cNvSpPr/>
          <p:nvPr/>
        </p:nvSpPr>
        <p:spPr>
          <a:xfrm>
            <a:off x="8210347" y="5963266"/>
            <a:ext cx="3295549" cy="166218"/>
          </a:xfrm>
          <a:prstGeom prst="rect">
            <a:avLst/>
          </a:prstGeom>
          <a:noFill/>
          <a:ln/>
        </p:spPr>
        <p:txBody>
          <a:bodyPr wrap="square" lIns="508" tIns="508" rIns="508" bIns="508" rtlCol="0" anchor="ctr">
            <a:normAutofit/>
          </a:bodyPr>
          <a:lstStyle/>
          <a:p>
            <a:pPr indent="0" marL="0">
              <a:buNone/>
            </a:pPr>
            <a:r>
              <a:rPr lang="en-US" sz="2200" dirty="0">
                <a:solidFill>
                  <a:srgbClr val="EDF7F7"/>
                </a:solidFill>
                <a:latin typeface="Aptos" pitchFamily="34" charset="0"/>
                <a:ea typeface="Aptos" pitchFamily="34" charset="-122"/>
                <a:cs typeface="Aptos" pitchFamily="34" charset="-120"/>
              </a:rPr>
              <a:t>Publish the reconciliation</a:t>
            </a:r>
            <a:endParaRPr lang="en-US" sz="2200" dirty="0"/>
          </a:p>
        </p:txBody>
      </p:sp>
      <p:sp>
        <p:nvSpPr>
          <p:cNvPr id="20" name="Text 18"/>
          <p:cNvSpPr/>
          <p:nvPr/>
        </p:nvSpPr>
        <p:spPr>
          <a:xfrm>
            <a:off x="8210347" y="6141861"/>
            <a:ext cx="3295549" cy="164592"/>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Keep original, comment, and independent values in separate fields so downstream analysis cannot silently substitute one layer for another.</a:t>
            </a:r>
            <a:endParaRPr lang="en-US" sz="1500" dirty="0"/>
          </a:p>
        </p:txBody>
      </p:sp>
      <p:sp>
        <p:nvSpPr>
          <p:cNvPr id="21" name="Text 19"/>
          <p:cNvSpPr/>
          <p:nvPr/>
        </p:nvSpPr>
        <p:spPr>
          <a:xfrm>
            <a:off x="8210347" y="6318831"/>
            <a:ext cx="3295549" cy="164592"/>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The method is deliberate. First preserve the trigger visual. Then capture LinkedIn discussion separately. Next consult primary sources. Classify what each source actually proves. Refuse false precision when currencies or horizons do not match. Finally publish a reconciliation that keeps every evidence layer distinct.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C2B"/>
        </a:solidFill>
      </p:bgPr>
    </p:bg>
    <p:spTree>
      <p:nvGrpSpPr>
        <p:cNvPr id="1" name=""/>
        <p:cNvGrpSpPr/>
        <p:nvPr/>
      </p:nvGrpSpPr>
      <p:grpSpPr>
        <a:xfrm>
          <a:off x="0" y="0"/>
          <a:ext cx="0" cy="0"/>
          <a:chOff x="0" y="0"/>
          <a:chExt cx="0" cy="0"/>
        </a:xfrm>
      </p:grpSpPr>
      <p:sp>
        <p:nvSpPr>
          <p:cNvPr id="2" name="Text 0"/>
          <p:cNvSpPr/>
          <p:nvPr/>
        </p:nvSpPr>
        <p:spPr>
          <a:xfrm>
            <a:off x="457200" y="1743429"/>
            <a:ext cx="11277295" cy="2161717"/>
          </a:xfrm>
          <a:prstGeom prst="rect">
            <a:avLst/>
          </a:prstGeom>
          <a:noFill/>
          <a:ln/>
        </p:spPr>
        <p:txBody>
          <a:bodyPr wrap="square" lIns="508" tIns="508" rIns="508" bIns="508" rtlCol="0" anchor="ctr">
            <a:normAutofit/>
          </a:bodyPr>
          <a:lstStyle/>
          <a:p>
            <a:pPr indent="0" marL="0">
              <a:buNone/>
            </a:pPr>
            <a:r>
              <a:rPr lang="en-US" sz="3000" b="1" dirty="0">
                <a:solidFill>
                  <a:srgbClr val="26C6A3"/>
                </a:solidFill>
                <a:latin typeface="Aptos" pitchFamily="34" charset="0"/>
                <a:ea typeface="Aptos" pitchFamily="34" charset="-122"/>
                <a:cs typeface="Aptos" pitchFamily="34" charset="-120"/>
              </a:rPr>
              <a:t>What the sources establish</a:t>
            </a:r>
            <a:endParaRPr lang="en-US" sz="3000" dirty="0"/>
          </a:p>
        </p:txBody>
      </p:sp>
      <p:sp>
        <p:nvSpPr>
          <p:cNvPr id="3" name="Text 1"/>
          <p:cNvSpPr/>
          <p:nvPr/>
        </p:nvSpPr>
        <p:spPr>
          <a:xfrm>
            <a:off x="685800" y="4700675"/>
            <a:ext cx="5176685" cy="164592"/>
          </a:xfrm>
          <a:prstGeom prst="rect">
            <a:avLst/>
          </a:prstGeom>
          <a:noFill/>
          <a:ln/>
        </p:spPr>
        <p:txBody>
          <a:bodyPr wrap="square" lIns="508" tIns="508" rIns="508" bIns="508" rtlCol="0" anchor="ctr">
            <a:normAutofit/>
          </a:bodyPr>
          <a:lstStyle/>
          <a:p>
            <a:pPr indent="0" marL="0">
              <a:buNone/>
            </a:pPr>
            <a:r>
              <a:rPr lang="en-US" sz="1500" b="1" dirty="0">
                <a:solidFill>
                  <a:srgbClr val="EDF7F7"/>
                </a:solidFill>
                <a:latin typeface="Aptos" pitchFamily="34" charset="0"/>
                <a:ea typeface="Aptos" pitchFamily="34" charset="-122"/>
                <a:cs typeface="Aptos" pitchFamily="34" charset="-120"/>
              </a:rPr>
              <a:t>Verified · full development</a:t>
            </a:r>
            <a:endParaRPr lang="en-US" sz="1500" dirty="0"/>
          </a:p>
        </p:txBody>
      </p:sp>
      <p:sp>
        <p:nvSpPr>
          <p:cNvPr id="4" name="Text 2"/>
          <p:cNvSpPr/>
          <p:nvPr/>
        </p:nvSpPr>
        <p:spPr>
          <a:xfrm>
            <a:off x="685800" y="4870407"/>
            <a:ext cx="5176685" cy="164592"/>
          </a:xfrm>
          <a:prstGeom prst="rect">
            <a:avLst/>
          </a:prstGeom>
          <a:noFill/>
          <a:ln/>
        </p:spPr>
        <p:txBody>
          <a:bodyPr wrap="square" lIns="508" tIns="508" rIns="508" bIns="508" rtlCol="0" anchor="ctr">
            <a:normAutofit/>
          </a:bodyPr>
          <a:lstStyle/>
          <a:p>
            <a:pPr indent="0" marL="0">
              <a:buNone/>
            </a:pPr>
            <a:r>
              <a:rPr lang="en-US" sz="2200" dirty="0">
                <a:solidFill>
                  <a:srgbClr val="EDF7F7"/>
                </a:solidFill>
                <a:latin typeface="Aptos" pitchFamily="34" charset="0"/>
                <a:ea typeface="Aptos" pitchFamily="34" charset="-122"/>
                <a:cs typeface="Aptos" pitchFamily="34" charset="-120"/>
              </a:rPr>
              <a:t>Uaru, Whiptail, GranMorgu, Raia</a:t>
            </a:r>
            <a:endParaRPr lang="en-US" sz="2200" dirty="0"/>
          </a:p>
        </p:txBody>
      </p:sp>
      <p:sp>
        <p:nvSpPr>
          <p:cNvPr id="5" name="Text 3"/>
          <p:cNvSpPr/>
          <p:nvPr/>
        </p:nvSpPr>
        <p:spPr>
          <a:xfrm>
            <a:off x="685800" y="5040140"/>
            <a:ext cx="5176685" cy="164592"/>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Published amounts match operator disclosures — as whole-development investment, including FPSO, not vessel-only prices. Luciano’s scope question is answered for these four.</a:t>
            </a:r>
            <a:endParaRPr lang="en-US" sz="1500" dirty="0"/>
          </a:p>
        </p:txBody>
      </p:sp>
      <p:sp>
        <p:nvSpPr>
          <p:cNvPr id="6" name="Text 4"/>
          <p:cNvSpPr/>
          <p:nvPr/>
        </p:nvSpPr>
        <p:spPr>
          <a:xfrm>
            <a:off x="6329210" y="4700675"/>
            <a:ext cx="5176685" cy="164592"/>
          </a:xfrm>
          <a:prstGeom prst="rect">
            <a:avLst/>
          </a:prstGeom>
          <a:noFill/>
          <a:ln/>
        </p:spPr>
        <p:txBody>
          <a:bodyPr wrap="square" lIns="508" tIns="508" rIns="508" bIns="508" rtlCol="0" anchor="ctr">
            <a:normAutofit/>
          </a:bodyPr>
          <a:lstStyle/>
          <a:p>
            <a:pPr indent="0" marL="0">
              <a:buNone/>
            </a:pPr>
            <a:r>
              <a:rPr lang="en-US" sz="1500" b="1" dirty="0">
                <a:solidFill>
                  <a:srgbClr val="EDF7F7"/>
                </a:solidFill>
                <a:latin typeface="Aptos" pitchFamily="34" charset="0"/>
                <a:ea typeface="Aptos" pitchFamily="34" charset="-122"/>
                <a:cs typeface="Aptos" pitchFamily="34" charset="-120"/>
              </a:rPr>
              <a:t>Identity only · amount open</a:t>
            </a:r>
            <a:endParaRPr lang="en-US" sz="1500" dirty="0"/>
          </a:p>
        </p:txBody>
      </p:sp>
      <p:sp>
        <p:nvSpPr>
          <p:cNvPr id="7" name="Text 5"/>
          <p:cNvSpPr/>
          <p:nvPr/>
        </p:nvSpPr>
        <p:spPr>
          <a:xfrm>
            <a:off x="6329210" y="4870407"/>
            <a:ext cx="5176685" cy="164592"/>
          </a:xfrm>
          <a:prstGeom prst="rect">
            <a:avLst/>
          </a:prstGeom>
          <a:noFill/>
          <a:ln/>
        </p:spPr>
        <p:txBody>
          <a:bodyPr wrap="square" lIns="508" tIns="508" rIns="508" bIns="508" rtlCol="0" anchor="ctr">
            <a:normAutofit/>
          </a:bodyPr>
          <a:lstStyle/>
          <a:p>
            <a:pPr indent="0" marL="0">
              <a:buNone/>
            </a:pPr>
            <a:r>
              <a:rPr lang="en-US" sz="2200" dirty="0">
                <a:solidFill>
                  <a:srgbClr val="EDF7F7"/>
                </a:solidFill>
                <a:latin typeface="Aptos" pitchFamily="34" charset="0"/>
                <a:ea typeface="Aptos" pitchFamily="34" charset="-122"/>
                <a:cs typeface="Aptos" pitchFamily="34" charset="-120"/>
              </a:rPr>
              <a:t>Atapu 2, Sépia 2, Búzios 9–11</a:t>
            </a:r>
            <a:endParaRPr lang="en-US" sz="2200" dirty="0"/>
          </a:p>
        </p:txBody>
      </p:sp>
      <p:sp>
        <p:nvSpPr>
          <p:cNvPr id="8" name="Text 6"/>
          <p:cNvSpPr/>
          <p:nvPr/>
        </p:nvSpPr>
        <p:spPr>
          <a:xfrm>
            <a:off x="6329210" y="5040140"/>
            <a:ext cx="5176685" cy="164592"/>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Petrobras materials confirm project identity and naming (P-80 to P-85), but the visual’s CAPEX figures remain unverified. Ranks are retained provisionally.</a:t>
            </a:r>
            <a:endParaRPr lang="en-US" sz="1500" dirty="0"/>
          </a:p>
        </p:txBody>
      </p:sp>
      <p:sp>
        <p:nvSpPr>
          <p:cNvPr id="9" name="Text 7"/>
          <p:cNvSpPr/>
          <p:nvPr/>
        </p:nvSpPr>
        <p:spPr>
          <a:xfrm>
            <a:off x="685800" y="5424422"/>
            <a:ext cx="5176685" cy="164592"/>
          </a:xfrm>
          <a:prstGeom prst="rect">
            <a:avLst/>
          </a:prstGeom>
          <a:noFill/>
          <a:ln/>
        </p:spPr>
        <p:txBody>
          <a:bodyPr wrap="square" lIns="508" tIns="508" rIns="508" bIns="508" rtlCol="0" anchor="ctr">
            <a:normAutofit/>
          </a:bodyPr>
          <a:lstStyle/>
          <a:p>
            <a:pPr indent="0" marL="0">
              <a:buNone/>
            </a:pPr>
            <a:r>
              <a:rPr lang="en-US" sz="1500" b="1" dirty="0">
                <a:solidFill>
                  <a:srgbClr val="EDF7F7"/>
                </a:solidFill>
                <a:latin typeface="Aptos" pitchFamily="34" charset="0"/>
                <a:ea typeface="Aptos" pitchFamily="34" charset="-122"/>
                <a:cs typeface="Aptos" pitchFamily="34" charset="-120"/>
              </a:rPr>
              <a:t>Conflicting scope · flagged</a:t>
            </a:r>
            <a:endParaRPr lang="en-US" sz="1500" dirty="0"/>
          </a:p>
        </p:txBody>
      </p:sp>
      <p:sp>
        <p:nvSpPr>
          <p:cNvPr id="10" name="Text 8"/>
          <p:cNvSpPr/>
          <p:nvPr/>
        </p:nvSpPr>
        <p:spPr>
          <a:xfrm>
            <a:off x="685800" y="5594154"/>
            <a:ext cx="5176685" cy="164592"/>
          </a:xfrm>
          <a:prstGeom prst="rect">
            <a:avLst/>
          </a:prstGeom>
          <a:noFill/>
          <a:ln/>
        </p:spPr>
        <p:txBody>
          <a:bodyPr wrap="square" lIns="508" tIns="508" rIns="508" bIns="508" rtlCol="0" anchor="ctr">
            <a:normAutofit/>
          </a:bodyPr>
          <a:lstStyle/>
          <a:p>
            <a:pPr indent="0" marL="0">
              <a:buNone/>
            </a:pPr>
            <a:r>
              <a:rPr lang="en-US" sz="2200" dirty="0">
                <a:solidFill>
                  <a:srgbClr val="EDF7F7"/>
                </a:solidFill>
                <a:latin typeface="Aptos" pitchFamily="34" charset="0"/>
                <a:ea typeface="Aptos" pitchFamily="34" charset="-122"/>
                <a:cs typeface="Aptos" pitchFamily="34" charset="-120"/>
              </a:rPr>
              <a:t>Bonga Southwest/Aparo</a:t>
            </a:r>
            <a:endParaRPr lang="en-US" sz="2200" dirty="0"/>
          </a:p>
        </p:txBody>
      </p:sp>
      <p:sp>
        <p:nvSpPr>
          <p:cNvPr id="11" name="Text 9"/>
          <p:cNvSpPr/>
          <p:nvPr/>
        </p:nvSpPr>
        <p:spPr>
          <a:xfrm>
            <a:off x="685800" y="5763887"/>
            <a:ext cx="5176685" cy="164592"/>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Visual shows US$8bn. Newer reporting points to roughly US$10bn CAPEX and up to US$20bn total investment including life-cycle opex. Flagged, not re-ranked.</a:t>
            </a:r>
            <a:endParaRPr lang="en-US" sz="1500" dirty="0"/>
          </a:p>
        </p:txBody>
      </p:sp>
      <p:sp>
        <p:nvSpPr>
          <p:cNvPr id="12" name="Text 10"/>
          <p:cNvSpPr/>
          <p:nvPr/>
        </p:nvSpPr>
        <p:spPr>
          <a:xfrm>
            <a:off x="6329210" y="5424422"/>
            <a:ext cx="5176685" cy="164592"/>
          </a:xfrm>
          <a:prstGeom prst="rect">
            <a:avLst/>
          </a:prstGeom>
          <a:noFill/>
          <a:ln/>
        </p:spPr>
        <p:txBody>
          <a:bodyPr wrap="square" lIns="508" tIns="508" rIns="508" bIns="508" rtlCol="0" anchor="ctr">
            <a:normAutofit/>
          </a:bodyPr>
          <a:lstStyle/>
          <a:p>
            <a:pPr indent="0" marL="0">
              <a:buNone/>
            </a:pPr>
            <a:r>
              <a:rPr lang="en-US" sz="1500" b="1" dirty="0">
                <a:solidFill>
                  <a:srgbClr val="EDF7F7"/>
                </a:solidFill>
                <a:latin typeface="Aptos" pitchFamily="34" charset="0"/>
                <a:ea typeface="Aptos" pitchFamily="34" charset="-122"/>
                <a:cs typeface="Aptos" pitchFamily="34" charset="-120"/>
              </a:rPr>
              <a:t>Not ranked · discussion layer</a:t>
            </a:r>
            <a:endParaRPr lang="en-US" sz="1500" dirty="0"/>
          </a:p>
        </p:txBody>
      </p:sp>
      <p:sp>
        <p:nvSpPr>
          <p:cNvPr id="13" name="Text 11"/>
          <p:cNvSpPr/>
          <p:nvPr/>
        </p:nvSpPr>
        <p:spPr>
          <a:xfrm>
            <a:off x="6329210" y="5594154"/>
            <a:ext cx="5176685" cy="164592"/>
          </a:xfrm>
          <a:prstGeom prst="rect">
            <a:avLst/>
          </a:prstGeom>
          <a:noFill/>
          <a:ln/>
        </p:spPr>
        <p:txBody>
          <a:bodyPr wrap="square" lIns="508" tIns="508" rIns="508" bIns="508" rtlCol="0" anchor="ctr">
            <a:normAutofit/>
          </a:bodyPr>
          <a:lstStyle/>
          <a:p>
            <a:pPr indent="0" marL="0">
              <a:buNone/>
            </a:pPr>
            <a:r>
              <a:rPr lang="en-US" sz="2200" dirty="0">
                <a:solidFill>
                  <a:srgbClr val="EDF7F7"/>
                </a:solidFill>
                <a:latin typeface="Aptos" pitchFamily="34" charset="0"/>
                <a:ea typeface="Aptos" pitchFamily="34" charset="-122"/>
                <a:cs typeface="Aptos" pitchFamily="34" charset="-120"/>
              </a:rPr>
              <a:t>Bay du Nord, Wisting, Greater PAJ, Tangkulo, Venus</a:t>
            </a:r>
            <a:endParaRPr lang="en-US" sz="2200" dirty="0"/>
          </a:p>
        </p:txBody>
      </p:sp>
      <p:sp>
        <p:nvSpPr>
          <p:cNvPr id="14" name="Text 12"/>
          <p:cNvSpPr/>
          <p:nvPr/>
        </p:nvSpPr>
        <p:spPr>
          <a:xfrm>
            <a:off x="6329210" y="5763887"/>
            <a:ext cx="5176685" cy="164592"/>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Comment additions expand geography, but stay NR until currency, horizon, and cost boundary are comparable to the visual’s USD top ten.</a:t>
            </a:r>
            <a:endParaRPr lang="en-US" sz="1500" dirty="0"/>
          </a:p>
        </p:txBody>
      </p:sp>
      <p:sp>
        <p:nvSpPr>
          <p:cNvPr id="15" name="Text 13"/>
          <p:cNvSpPr/>
          <p:nvPr/>
        </p:nvSpPr>
        <p:spPr>
          <a:xfrm>
            <a:off x="6329210" y="5933619"/>
            <a:ext cx="5176685" cy="164592"/>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Independent sources verify four of the original amounts — Uaru, Whiptail, GranMorgu, and Raia — as full development investments. Petrobras rows are identity-confirmed but amount-open. Bonga conflicts in scope and is flagged. Comment projects remain unranked rather than forced into the table.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C2B"/>
        </a:solidFill>
      </p:bgPr>
    </p:bg>
    <p:spTree>
      <p:nvGrpSpPr>
        <p:cNvPr id="1" name=""/>
        <p:cNvGrpSpPr/>
        <p:nvPr/>
      </p:nvGrpSpPr>
      <p:grpSpPr>
        <a:xfrm>
          <a:off x="0" y="0"/>
          <a:ext cx="0" cy="0"/>
          <a:chOff x="0" y="0"/>
          <a:chExt cx="0" cy="0"/>
        </a:xfrm>
      </p:grpSpPr>
      <p:sp>
        <p:nvSpPr>
          <p:cNvPr id="2" name="Text 0"/>
          <p:cNvSpPr/>
          <p:nvPr/>
        </p:nvSpPr>
        <p:spPr>
          <a:xfrm>
            <a:off x="457200" y="1743429"/>
            <a:ext cx="11277295" cy="1252169"/>
          </a:xfrm>
          <a:prstGeom prst="rect">
            <a:avLst/>
          </a:prstGeom>
          <a:noFill/>
          <a:ln/>
        </p:spPr>
        <p:txBody>
          <a:bodyPr wrap="square" lIns="508" tIns="508" rIns="508" bIns="508" rtlCol="0" anchor="ctr">
            <a:normAutofit/>
          </a:bodyPr>
          <a:lstStyle/>
          <a:p>
            <a:pPr indent="0" marL="0">
              <a:buNone/>
            </a:pPr>
            <a:r>
              <a:rPr lang="en-US" sz="3000" b="1" dirty="0">
                <a:solidFill>
                  <a:srgbClr val="26C6A3"/>
                </a:solidFill>
                <a:latin typeface="Aptos" pitchFamily="34" charset="0"/>
                <a:ea typeface="Aptos" pitchFamily="34" charset="-122"/>
                <a:cs typeface="Aptos" pitchFamily="34" charset="-120"/>
              </a:rPr>
              <a:t>Same order. Clearer evidence.</a:t>
            </a:r>
            <a:endParaRPr lang="en-US" sz="3000" dirty="0"/>
          </a:p>
        </p:txBody>
      </p:sp>
      <p:pic>
        <p:nvPicPr>
          <p:cNvPr id="3" name="Image 0" descr="Updated FPSO CAPEX ranking reconciled with independent findings">
            <a:hlinkClick r:id="rId2" tooltip="Click to enlarge" action="ppaction://hlinksldjump"/>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23348" y="3791126"/>
            <a:ext cx="744999" cy="651874"/>
          </a:xfrm>
          <a:prstGeom prst="rect">
            <a:avLst/>
          </a:prstGeom>
        </p:spPr>
      </p:pic>
      <p:sp>
        <p:nvSpPr>
          <p:cNvPr id="4" name="Text 1"/>
          <p:cNvSpPr/>
          <p:nvPr/>
        </p:nvSpPr>
        <p:spPr>
          <a:xfrm>
            <a:off x="685800" y="4443001"/>
            <a:ext cx="10820095" cy="143094"/>
          </a:xfrm>
          <a:prstGeom prst="rect">
            <a:avLst/>
          </a:prstGeom>
          <a:noFill/>
          <a:ln/>
        </p:spPr>
        <p:txBody>
          <a:bodyPr wrap="square" lIns="254" tIns="254" rIns="254" bIns="254" rtlCol="0" anchor="ctr">
            <a:normAutofit/>
          </a:bodyPr>
          <a:lstStyle/>
          <a:p>
            <a:pPr algn="ctr" indent="0" marL="0">
              <a:buNone/>
            </a:pPr>
            <a:r>
              <a:rPr lang="en-US" sz="1000" i="1" dirty="0">
                <a:solidFill>
                  <a:srgbClr val="9EB6BC"/>
                </a:solidFill>
                <a:latin typeface="Aptos" pitchFamily="34" charset="0"/>
                <a:ea typeface="Aptos" pitchFamily="34" charset="-122"/>
                <a:cs typeface="Aptos" pitchFamily="34" charset="-120"/>
              </a:rPr>
              <a:t>Original US$94.287bn visual reconciled with independent findings · 19 July 2026</a:t>
            </a:r>
            <a:endParaRPr lang="en-US" sz="1000" dirty="0"/>
          </a:p>
        </p:txBody>
      </p:sp>
      <p:sp>
        <p:nvSpPr>
          <p:cNvPr id="5" name="Text 2"/>
          <p:cNvSpPr/>
          <p:nvPr/>
        </p:nvSpPr>
        <p:spPr>
          <a:xfrm>
            <a:off x="457200" y="5381623"/>
            <a:ext cx="11277295" cy="613563"/>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Independently matched development CAPEX · Original visual value, scope not established · Newer finding conflicts in scope or value</a:t>
            </a:r>
            <a:endParaRPr lang="en-US" sz="1500" dirty="0"/>
          </a:p>
        </p:txBody>
      </p:sp>
      <p:sp>
        <p:nvSpPr>
          <p:cNvPr id="6" name="Text 3"/>
          <p:cNvSpPr/>
          <p:nvPr/>
        </p:nvSpPr>
        <p:spPr>
          <a:xfrm>
            <a:off x="457200" y="6020229"/>
            <a:ext cx="11277295" cy="613563"/>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The updated ranking keeps the visual’s original order. Green marks independently matched development CAPEX. Grey marks amounts whose scope is still unresolved. Orange marks Bonga’s conflicting newer headline. Five discussion projects sit below as not ranked, with native currencies preserved.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C2B"/>
        </a:solidFill>
      </p:bgPr>
    </p:bg>
    <p:spTree>
      <p:nvGrpSpPr>
        <p:cNvPr id="1" name=""/>
        <p:cNvGrpSpPr/>
        <p:nvPr/>
      </p:nvGrpSpPr>
      <p:grpSpPr>
        <a:xfrm>
          <a:off x="0" y="0"/>
          <a:ext cx="0" cy="0"/>
          <a:chOff x="0" y="0"/>
          <a:chExt cx="0" cy="0"/>
        </a:xfrm>
      </p:grpSpPr>
      <p:sp>
        <p:nvSpPr>
          <p:cNvPr id="2" name="Text 0"/>
          <p:cNvSpPr/>
          <p:nvPr/>
        </p:nvSpPr>
        <p:spPr>
          <a:xfrm>
            <a:off x="457200" y="1743429"/>
            <a:ext cx="11277295" cy="1252169"/>
          </a:xfrm>
          <a:prstGeom prst="rect">
            <a:avLst/>
          </a:prstGeom>
          <a:noFill/>
          <a:ln/>
        </p:spPr>
        <p:txBody>
          <a:bodyPr wrap="square" lIns="508" tIns="508" rIns="508" bIns="508" rtlCol="0" anchor="ctr">
            <a:normAutofit/>
          </a:bodyPr>
          <a:lstStyle/>
          <a:p>
            <a:pPr indent="0" marL="0">
              <a:buNone/>
            </a:pPr>
            <a:r>
              <a:rPr lang="en-US" sz="3000" b="1" dirty="0">
                <a:solidFill>
                  <a:srgbClr val="26C6A3"/>
                </a:solidFill>
                <a:latin typeface="Aptos" pitchFamily="34" charset="0"/>
                <a:ea typeface="Aptos" pitchFamily="34" charset="-122"/>
                <a:cs typeface="Aptos" pitchFamily="34" charset="-120"/>
              </a:rPr>
              <a:t>From industry signal to trusted perspective</a:t>
            </a:r>
            <a:endParaRPr lang="en-US" sz="3000" dirty="0"/>
          </a:p>
        </p:txBody>
      </p:sp>
      <p:sp>
        <p:nvSpPr>
          <p:cNvPr id="3" name="Text 1"/>
          <p:cNvSpPr/>
          <p:nvPr/>
        </p:nvSpPr>
        <p:spPr>
          <a:xfrm>
            <a:off x="685800" y="3791126"/>
            <a:ext cx="5865517" cy="794969"/>
          </a:xfrm>
          <a:prstGeom prst="rect">
            <a:avLst/>
          </a:prstGeom>
          <a:noFill/>
          <a:ln/>
        </p:spPr>
        <p:txBody>
          <a:bodyPr wrap="square" lIns="508" tIns="508" rIns="508" bIns="508" rtlCol="0" anchor="ctr">
            <a:normAutofit/>
          </a:bodyPr>
          <a:lstStyle/>
          <a:p>
            <a:pPr indent="0" marL="0">
              <a:buNone/>
            </a:pPr>
            <a:r>
              <a:rPr lang="en-US" sz="1100" dirty="0">
                <a:solidFill>
                  <a:srgbClr val="9EB6BC"/>
                </a:solidFill>
                <a:latin typeface="Aptos" pitchFamily="34" charset="0"/>
                <a:ea typeface="Aptos" pitchFamily="34" charset="-122"/>
                <a:cs typeface="Aptos" pitchFamily="34" charset="-120"/>
              </a:rPr>
              <a:t>&lt;p&gt;A single industry post became the starting point for a structured analysis of the FPSO market — combining source research, project reconciliation, cost-scope analysis, and strategic interpretation.&lt;/p&gt;</a:t>
            </a:r>
            <a:endParaRPr lang="en-US" sz="1100" dirty="0"/>
          </a:p>
          <a:p>
            <a:pPr indent="0" marL="0">
              <a:buNone/>
            </a:pPr>
            <a:r>
              <a:rPr lang="en-US" sz="1100" dirty="0">
                <a:solidFill>
                  <a:srgbClr val="9EB6BC"/>
                </a:solidFill>
                <a:latin typeface="Aptos" pitchFamily="34" charset="0"/>
                <a:ea typeface="Aptos" pitchFamily="34" charset="-122"/>
                <a:cs typeface="Aptos" pitchFamily="34" charset="-120"/>
              </a:rPr>
              <a:t>&lt;p class="pull"&gt;The result is not simply a fact check.&lt;/p&gt;</a:t>
            </a:r>
            <a:endParaRPr lang="en-US" sz="1100" dirty="0"/>
          </a:p>
          <a:p>
            <a:pPr indent="0" marL="0">
              <a:buNone/>
            </a:pPr>
            <a:r>
              <a:rPr lang="en-US" sz="1100" dirty="0">
                <a:solidFill>
                  <a:srgbClr val="9EB6BC"/>
                </a:solidFill>
                <a:latin typeface="Aptos" pitchFamily="34" charset="0"/>
                <a:ea typeface="Aptos" pitchFamily="34" charset="-122"/>
                <a:cs typeface="Aptos" pitchFamily="34" charset="-120"/>
              </a:rPr>
              <a:t>&lt;p&gt;It is a &lt;strong&gt;professional industry perspective&lt;/strong&gt; built from the evidence available.&lt;/p&gt;</a:t>
            </a:r>
            <a:endParaRPr lang="en-US" sz="1100" dirty="0"/>
          </a:p>
          <a:p>
            <a:pPr indent="0" marL="0">
              <a:buNone/>
            </a:pPr>
            <a:r>
              <a:rPr lang="en-US" sz="1100" dirty="0">
                <a:solidFill>
                  <a:srgbClr val="9EB6BC"/>
                </a:solidFill>
                <a:latin typeface="Aptos" pitchFamily="34" charset="0"/>
                <a:ea typeface="Aptos" pitchFamily="34" charset="-122"/>
                <a:cs typeface="Aptos" pitchFamily="34" charset="-120"/>
              </a:rPr>
              <a:t>&lt;p class="caption"&gt;The input can be a single industry signal.&lt;br&gt;The output is a trusted perspective on the industry.&lt;/p&gt;</a:t>
            </a:r>
            <a:endParaRPr lang="en-US" sz="1100" dirty="0"/>
          </a:p>
        </p:txBody>
      </p:sp>
      <p:sp>
        <p:nvSpPr>
          <p:cNvPr id="4" name="Text 2"/>
          <p:cNvSpPr/>
          <p:nvPr/>
        </p:nvSpPr>
        <p:spPr>
          <a:xfrm>
            <a:off x="7031376" y="3791126"/>
            <a:ext cx="4474519" cy="794969"/>
          </a:xfrm>
          <a:prstGeom prst="rect">
            <a:avLst/>
          </a:prstGeom>
          <a:noFill/>
          <a:ln/>
        </p:spPr>
        <p:txBody>
          <a:bodyPr wrap="square" lIns="508" tIns="508" rIns="508" bIns="508" rtlCol="0" anchor="ctr">
            <a:normAutofit/>
          </a:bodyPr>
          <a:lstStyle/>
          <a:p>
            <a:pPr indent="0" marL="0">
              <a:buNone/>
            </a:pPr>
            <a:r>
              <a:rPr lang="en-US" sz="1100" dirty="0">
                <a:solidFill>
                  <a:srgbClr val="9EB6BC"/>
                </a:solidFill>
                <a:latin typeface="Aptos" pitchFamily="34" charset="0"/>
                <a:ea typeface="Aptos" pitchFamily="34" charset="-122"/>
                <a:cs typeface="Aptos" pitchFamily="34" charset="-120"/>
              </a:rPr>
              <a:t>&lt;div class="metric"&gt;&lt;strong&gt;Rapid synthesis&lt;/strong&gt;&lt;span&gt;Move from an emerging industry signal to a structured analytical view in hours, not weeks.&lt;/span&gt;&lt;/div&gt;</a:t>
            </a:r>
            <a:endParaRPr lang="en-US" sz="1100" dirty="0"/>
          </a:p>
          <a:p>
            <a:pPr indent="0" marL="0">
              <a:buNone/>
            </a:pPr>
            <a:r>
              <a:rPr lang="en-US" sz="1100" dirty="0">
                <a:solidFill>
                  <a:srgbClr val="9EB6BC"/>
                </a:solidFill>
                <a:latin typeface="Aptos" pitchFamily="34" charset="0"/>
                <a:ea typeface="Aptos" pitchFamily="34" charset="-122"/>
                <a:cs typeface="Aptos" pitchFamily="34" charset="-120"/>
              </a:rPr>
              <a:t>&lt;div class="metric"&gt;&lt;strong&gt;Evidence-led judgment&lt;/strong&gt;&lt;span&gt;Combine public disclosures, company materials, government sources, contractor information, and industry context.&lt;/span&gt;&lt;/div&gt;</a:t>
            </a:r>
            <a:endParaRPr lang="en-US" sz="1100" dirty="0"/>
          </a:p>
          <a:p>
            <a:pPr indent="0" marL="0">
              <a:buNone/>
            </a:pPr>
            <a:r>
              <a:rPr lang="en-US" sz="1100" dirty="0">
                <a:solidFill>
                  <a:srgbClr val="9EB6BC"/>
                </a:solidFill>
                <a:latin typeface="Aptos" pitchFamily="34" charset="0"/>
                <a:ea typeface="Aptos" pitchFamily="34" charset="-122"/>
                <a:cs typeface="Aptos" pitchFamily="34" charset="-120"/>
              </a:rPr>
              <a:t>&lt;div class="metric"&gt;&lt;strong&gt;Strategic interpretation&lt;/strong&gt;&lt;span&gt;Go beyond what is stated to understand what the data reveals about capital deployment, development models, ownership, risk, and opportunity.&lt;/span&gt;&lt;/div&gt;</a:t>
            </a:r>
            <a:endParaRPr lang="en-US" sz="1100" dirty="0"/>
          </a:p>
        </p:txBody>
      </p:sp>
      <p:sp>
        <p:nvSpPr>
          <p:cNvPr id="5" name="Text 3"/>
          <p:cNvSpPr/>
          <p:nvPr/>
        </p:nvSpPr>
        <p:spPr>
          <a:xfrm>
            <a:off x="457200" y="5381623"/>
            <a:ext cx="11277295" cy="920344"/>
          </a:xfrm>
          <a:prstGeom prst="rect">
            <a:avLst/>
          </a:prstGeom>
          <a:noFill/>
          <a:ln/>
        </p:spPr>
        <p:txBody>
          <a:bodyPr wrap="square" lIns="508" tIns="508" rIns="508" bIns="508" rtlCol="0" anchor="ctr">
            <a:normAutofit/>
          </a:bodyPr>
          <a:lstStyle/>
          <a:p>
            <a:pPr indent="0" marL="0">
              <a:buNone/>
            </a:pPr>
            <a:r>
              <a:rPr lang="en-US" sz="1100" dirty="0">
                <a:solidFill>
                  <a:srgbClr val="9EB6BC"/>
                </a:solidFill>
                <a:latin typeface="Aptos" pitchFamily="34" charset="0"/>
                <a:ea typeface="Aptos" pitchFamily="34" charset="-122"/>
                <a:cs typeface="Aptos" pitchFamily="34" charset="-120"/>
              </a:rPr>
              <a:t>&lt;p class="label"&gt;Exergy xFrame Insights&lt;/p&gt;</a:t>
            </a:r>
            <a:endParaRPr lang="en-US" sz="1100" dirty="0"/>
          </a:p>
          <a:p>
            <a:pPr indent="0" marL="0">
              <a:buNone/>
            </a:pPr>
            <a:r>
              <a:rPr lang="en-US" sz="1100" dirty="0">
                <a:solidFill>
                  <a:srgbClr val="9EB6BC"/>
                </a:solidFill>
                <a:latin typeface="Aptos" pitchFamily="34" charset="0"/>
                <a:ea typeface="Aptos" pitchFamily="34" charset="-122"/>
                <a:cs typeface="Aptos" pitchFamily="34" charset="-120"/>
              </a:rPr>
              <a:t>&lt;p class="pull"&gt;Turn fragmented information into a decision-quality view of the industry.&lt;/p&gt;</a:t>
            </a:r>
            <a:endParaRPr lang="en-US" sz="1100" dirty="0"/>
          </a:p>
        </p:txBody>
      </p:sp>
      <p:sp>
        <p:nvSpPr>
          <p:cNvPr id="6" name="Text 4"/>
          <p:cNvSpPr/>
          <p:nvPr/>
        </p:nvSpPr>
        <p:spPr>
          <a:xfrm>
            <a:off x="457200" y="6327011"/>
            <a:ext cx="11277295" cy="306781"/>
          </a:xfrm>
          <a:prstGeom prst="rect">
            <a:avLst/>
          </a:prstGeom>
          <a:noFill/>
          <a:ln/>
        </p:spPr>
        <p:txBody>
          <a:bodyPr wrap="square" lIns="508" tIns="508" rIns="508" bIns="508" rtlCol="0" anchor="ctr">
            <a:normAutofit/>
          </a:bodyPr>
          <a:lstStyle/>
          <a:p>
            <a:pPr indent="0" marL="0">
              <a:buNone/>
            </a:pPr>
            <a:r>
              <a:rPr lang="en-US" sz="1500" dirty="0">
                <a:solidFill>
                  <a:srgbClr val="EDF7F7"/>
                </a:solidFill>
                <a:latin typeface="Aptos" pitchFamily="34" charset="0"/>
                <a:ea typeface="Aptos" pitchFamily="34" charset="-122"/>
                <a:cs typeface="Aptos" pitchFamily="34" charset="-120"/>
              </a:rPr>
              <a:t>A single industry post became the starting point for a structured FPSO market analysis. The result is not simply a fact check, but a professional industry perspective built from the available evidence. Exergy xFrame Insights combines rapid synthesis, evidence-led judgment, and strategic interpretation to turn fragmented information into a decision-quality view of the industry.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C2B"/>
        </a:solidFill>
      </p:bgPr>
    </p:bg>
    <p:spTree>
      <p:nvGrpSpPr>
        <p:cNvPr id="1" name=""/>
        <p:cNvGrpSpPr/>
        <p:nvPr/>
      </p:nvGrpSpPr>
      <p:grpSpPr>
        <a:xfrm>
          <a:off x="0" y="0"/>
          <a:ext cx="0" cy="0"/>
          <a:chOff x="0" y="0"/>
          <a:chExt cx="0" cy="0"/>
        </a:xfrm>
      </p:grpSpPr>
      <p:pic>
        <p:nvPicPr>
          <p:cNvPr id="2" name="Image 0" descr="Top 10 upcoming FPSO projects to 2030 ranked by CAPEX">
            <a:hlinkClick r:id="rId2" tooltip="Return to slide" action="ppaction://hlinksldjump"/>
          </p:cNvPr>
          <p:cNvPicPr>
            <a:picLocks noChangeAspect="1"/>
          </p:cNvPicPr>
          <p:nvPr/>
        </p:nvPicPr>
        <p:blipFill>
          <a:blip r:embed="rId1"/>
          <a:stretch>
            <a:fillRect/>
          </a:stretch>
        </p:blipFill>
        <p:spPr>
          <a:xfrm>
            <a:off x="2672686" y="182880"/>
            <a:ext cx="6846323" cy="6812091"/>
          </a:xfrm>
          <a:prstGeom prst="rect">
            <a:avLst/>
          </a:prstGeom>
        </p:spPr>
      </p:pic>
      <p:sp>
        <p:nvSpPr>
          <p:cNvPr id="3" name="Text 0"/>
          <p:cNvSpPr/>
          <p:nvPr/>
        </p:nvSpPr>
        <p:spPr>
          <a:xfrm>
            <a:off x="274320" y="7086411"/>
            <a:ext cx="11643055" cy="274320"/>
          </a:xfrm>
          <a:prstGeom prst="rect">
            <a:avLst/>
          </a:prstGeom>
          <a:noFill/>
          <a:ln/>
        </p:spPr>
        <p:txBody>
          <a:bodyPr wrap="square" lIns="0" tIns="0" rIns="0" bIns="0" rtlCol="0" anchor="ctr"/>
          <a:lstStyle/>
          <a:p>
            <a:pPr algn="ctr" indent="0" marL="0">
              <a:buNone/>
            </a:pPr>
            <a:r>
              <a:rPr lang="en-US" sz="1100" i="1" dirty="0">
                <a:solidFill>
                  <a:srgbClr val="9EB6BC"/>
                </a:solidFill>
                <a:latin typeface="Aptos" pitchFamily="34" charset="0"/>
                <a:ea typeface="Aptos" pitchFamily="34" charset="-122"/>
                <a:cs typeface="Aptos" pitchFamily="34" charset="-120"/>
              </a:rPr>
              <a:t>Original ranking visual from Giacomo Prandelli’s LinkedIn post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C2B"/>
        </a:solidFill>
      </p:bgPr>
    </p:bg>
    <p:spTree>
      <p:nvGrpSpPr>
        <p:cNvPr id="1" name=""/>
        <p:cNvGrpSpPr/>
        <p:nvPr/>
      </p:nvGrpSpPr>
      <p:grpSpPr>
        <a:xfrm>
          <a:off x="0" y="0"/>
          <a:ext cx="0" cy="0"/>
          <a:chOff x="0" y="0"/>
          <a:chExt cx="0" cy="0"/>
        </a:xfrm>
      </p:grpSpPr>
      <p:pic>
        <p:nvPicPr>
          <p:cNvPr id="2" name="Image 0" descr="Updated FPSO CAPEX ranking reconciled with independent findings">
            <a:hlinkClick r:id="rId2" tooltip="Return to slide" action="ppaction://hlinksldjump"/>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203224" y="182880"/>
            <a:ext cx="7785247" cy="6812091"/>
          </a:xfrm>
          <a:prstGeom prst="rect">
            <a:avLst/>
          </a:prstGeom>
        </p:spPr>
      </p:pic>
      <p:sp>
        <p:nvSpPr>
          <p:cNvPr id="3" name="Text 0"/>
          <p:cNvSpPr/>
          <p:nvPr/>
        </p:nvSpPr>
        <p:spPr>
          <a:xfrm>
            <a:off x="274320" y="7086411"/>
            <a:ext cx="11643055" cy="274320"/>
          </a:xfrm>
          <a:prstGeom prst="rect">
            <a:avLst/>
          </a:prstGeom>
          <a:noFill/>
          <a:ln/>
        </p:spPr>
        <p:txBody>
          <a:bodyPr wrap="square" lIns="0" tIns="0" rIns="0" bIns="0" rtlCol="0" anchor="ctr"/>
          <a:lstStyle/>
          <a:p>
            <a:pPr algn="ctr" indent="0" marL="0">
              <a:buNone/>
            </a:pPr>
            <a:r>
              <a:rPr lang="en-US" sz="1100" i="1" dirty="0">
                <a:solidFill>
                  <a:srgbClr val="9EB6BC"/>
                </a:solidFill>
                <a:latin typeface="Aptos" pitchFamily="34" charset="0"/>
                <a:ea typeface="Aptos" pitchFamily="34" charset="-122"/>
                <a:cs typeface="Aptos" pitchFamily="34" charset="-120"/>
              </a:rPr>
              <a:t>Original US$94.287bn visual reconciled with independent findings · 19 July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Industry Signal to Strategic Analysis</dc:title>
  <dc:subject/>
  <dc:creator>Industry Perspective</dc:creator>
  <cp:lastModifiedBy>Industry Perspective</cp:lastModifiedBy>
  <cp:revision>1</cp:revision>
  <dcterms:created xsi:type="dcterms:W3CDTF">2026-07-19T18:11:30Z</dcterms:created>
  <dcterms:modified xsi:type="dcterms:W3CDTF">2026-07-19T18:11:30Z</dcterms:modified>
</cp:coreProperties>
</file>